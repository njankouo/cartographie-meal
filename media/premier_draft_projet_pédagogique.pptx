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Open Sans" charset="1" panose="020B0606030504020204"/>
      <p:regular r:id="rId10"/>
    </p:embeddedFont>
    <p:embeddedFont>
      <p:font typeface="Open Sans Bold" charset="1" panose="020B0806030504020204"/>
      <p:regular r:id="rId11"/>
    </p:embeddedFont>
    <p:embeddedFont>
      <p:font typeface="Open Sans Italics" charset="1" panose="020B0606030504020204"/>
      <p:regular r:id="rId12"/>
    </p:embeddedFont>
    <p:embeddedFont>
      <p:font typeface="Open Sans Bold Italics" charset="1" panose="020B0806030504020204"/>
      <p:regular r:id="rId13"/>
    </p:embeddedFont>
    <p:embeddedFont>
      <p:font typeface="Open Sans Extra Bold" charset="1" panose="020B0906030804020204"/>
      <p:regular r:id="rId14"/>
    </p:embeddedFont>
    <p:embeddedFont>
      <p:font typeface="Open Sans Extra Bold Italics" charset="1" panose="020B0906030804020204"/>
      <p:regular r:id="rId15"/>
    </p:embeddedFont>
    <p:embeddedFont>
      <p:font typeface="Open Sauce" charset="1" panose="00000500000000000000"/>
      <p:regular r:id="rId16"/>
    </p:embeddedFont>
    <p:embeddedFont>
      <p:font typeface="Open Sauce Bold" charset="1" panose="00000800000000000000"/>
      <p:regular r:id="rId17"/>
    </p:embeddedFont>
    <p:embeddedFont>
      <p:font typeface="Open Sauce Italics" charset="1" panose="00000500000000000000"/>
      <p:regular r:id="rId18"/>
    </p:embeddedFont>
    <p:embeddedFont>
      <p:font typeface="Open Sauce Bold Italics"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slides/slide1.xml" Type="http://schemas.openxmlformats.org/officeDocument/2006/relationships/slide"/><Relationship Id="rId21" Target="slides/slide2.xml" Type="http://schemas.openxmlformats.org/officeDocument/2006/relationships/slide"/><Relationship Id="rId22" Target="slides/slide3.xml" Type="http://schemas.openxmlformats.org/officeDocument/2006/relationships/slide"/><Relationship Id="rId23" Target="slides/slide4.xml" Type="http://schemas.openxmlformats.org/officeDocument/2006/relationships/slide"/><Relationship Id="rId24" Target="slides/slide5.xml" Type="http://schemas.openxmlformats.org/officeDocument/2006/relationships/slide"/><Relationship Id="rId25" Target="slides/slide6.xml" Type="http://schemas.openxmlformats.org/officeDocument/2006/relationships/slide"/><Relationship Id="rId26" Target="slides/slide7.xml" Type="http://schemas.openxmlformats.org/officeDocument/2006/relationships/slide"/><Relationship Id="rId27" Target="slides/slide8.xml" Type="http://schemas.openxmlformats.org/officeDocument/2006/relationships/slide"/><Relationship Id="rId28" Target="slides/slide9.xml" Type="http://schemas.openxmlformats.org/officeDocument/2006/relationships/slide"/><Relationship Id="rId29" Target="slides/slide10.xml" Type="http://schemas.openxmlformats.org/officeDocument/2006/relationships/slide"/><Relationship Id="rId3" Target="viewProps.xml" Type="http://schemas.openxmlformats.org/officeDocument/2006/relationships/viewProps"/><Relationship Id="rId30" Target="slides/slide11.xml" Type="http://schemas.openxmlformats.org/officeDocument/2006/relationships/slide"/><Relationship Id="rId31" Target="slides/slide12.xml" Type="http://schemas.openxmlformats.org/officeDocument/2006/relationships/slide"/><Relationship Id="rId32" Target="slides/slide13.xml" Type="http://schemas.openxmlformats.org/officeDocument/2006/relationships/slide"/><Relationship Id="rId33" Target="slides/slide14.xml" Type="http://schemas.openxmlformats.org/officeDocument/2006/relationships/slide"/><Relationship Id="rId34" Target="slides/slide15.xml" Type="http://schemas.openxmlformats.org/officeDocument/2006/relationships/slide"/><Relationship Id="rId35" Target="slides/slide16.xml" Type="http://schemas.openxmlformats.org/officeDocument/2006/relationships/slide"/><Relationship Id="rId36" Target="slides/slide17.xml" Type="http://schemas.openxmlformats.org/officeDocument/2006/relationships/slide"/><Relationship Id="rId37" Target="slides/slide18.xml" Type="http://schemas.openxmlformats.org/officeDocument/2006/relationships/slide"/><Relationship Id="rId38" Target="slides/slide19.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 Id="rId6"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7617" y="1589049"/>
            <a:ext cx="16852766" cy="7108902"/>
            <a:chOff x="0" y="0"/>
            <a:chExt cx="22470355" cy="9478537"/>
          </a:xfrm>
        </p:grpSpPr>
        <p:pic>
          <p:nvPicPr>
            <p:cNvPr name="Picture 3" id="3"/>
            <p:cNvPicPr>
              <a:picLocks noChangeAspect="true"/>
            </p:cNvPicPr>
            <p:nvPr/>
          </p:nvPicPr>
          <p:blipFill>
            <a:blip r:embed="rId2"/>
            <a:srcRect l="2692" t="0" r="2692" b="0"/>
            <a:stretch>
              <a:fillRect/>
            </a:stretch>
          </p:blipFill>
          <p:spPr>
            <a:xfrm>
              <a:off x="0" y="0"/>
              <a:ext cx="22470355" cy="9478537"/>
            </a:xfrm>
            <a:prstGeom prst="rect">
              <a:avLst/>
            </a:prstGeom>
          </p:spPr>
        </p:pic>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204270" y="2037583"/>
            <a:ext cx="7322748" cy="724138"/>
          </a:xfrm>
          <a:prstGeom prst="rect">
            <a:avLst/>
          </a:prstGeom>
        </p:spPr>
        <p:txBody>
          <a:bodyPr anchor="t" rtlCol="false" tIns="0" lIns="0" bIns="0" rIns="0">
            <a:spAutoFit/>
          </a:bodyPr>
          <a:lstStyle/>
          <a:p>
            <a:pPr algn="l">
              <a:lnSpc>
                <a:spcPts val="6370"/>
              </a:lnSpc>
            </a:pPr>
            <a:r>
              <a:rPr lang="en-US" sz="3185">
                <a:solidFill>
                  <a:srgbClr val="000000"/>
                </a:solidFill>
                <a:latin typeface="Open Sauce Bold"/>
              </a:rPr>
              <a:t>Présentation de Beinfos+ </a:t>
            </a:r>
          </a:p>
        </p:txBody>
      </p:sp>
      <p:grpSp>
        <p:nvGrpSpPr>
          <p:cNvPr name="Group 3" id="3"/>
          <p:cNvGrpSpPr/>
          <p:nvPr/>
        </p:nvGrpSpPr>
        <p:grpSpPr>
          <a:xfrm rot="0">
            <a:off x="7788453" y="2191841"/>
            <a:ext cx="771999" cy="771999"/>
            <a:chOff x="0" y="0"/>
            <a:chExt cx="6350000" cy="6350000"/>
          </a:xfrm>
        </p:grpSpPr>
        <p:sp>
          <p:nvSpPr>
            <p:cNvPr name="Freeform 4" id="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5" id="5"/>
          <p:cNvSpPr txBox="true"/>
          <p:nvPr/>
        </p:nvSpPr>
        <p:spPr>
          <a:xfrm rot="0">
            <a:off x="7901847" y="2181410"/>
            <a:ext cx="545211" cy="669036"/>
          </a:xfrm>
          <a:prstGeom prst="rect">
            <a:avLst/>
          </a:prstGeom>
        </p:spPr>
        <p:txBody>
          <a:bodyPr anchor="t" rtlCol="false" tIns="0" lIns="0" bIns="0" rIns="0">
            <a:spAutoFit/>
          </a:bodyPr>
          <a:lstStyle/>
          <a:p>
            <a:pPr algn="ctr">
              <a:lnSpc>
                <a:spcPts val="5652"/>
              </a:lnSpc>
            </a:pPr>
            <a:r>
              <a:rPr lang="en-US" sz="3600">
                <a:solidFill>
                  <a:srgbClr val="000000"/>
                </a:solidFill>
                <a:latin typeface="Open Sauce Bold"/>
              </a:rPr>
              <a:t>1</a:t>
            </a:r>
          </a:p>
        </p:txBody>
      </p:sp>
      <p:sp>
        <p:nvSpPr>
          <p:cNvPr name="TextBox 6" id="6"/>
          <p:cNvSpPr txBox="true"/>
          <p:nvPr/>
        </p:nvSpPr>
        <p:spPr>
          <a:xfrm rot="0">
            <a:off x="9204270" y="3319651"/>
            <a:ext cx="7322748" cy="724138"/>
          </a:xfrm>
          <a:prstGeom prst="rect">
            <a:avLst/>
          </a:prstGeom>
        </p:spPr>
        <p:txBody>
          <a:bodyPr anchor="t" rtlCol="false" tIns="0" lIns="0" bIns="0" rIns="0">
            <a:spAutoFit/>
          </a:bodyPr>
          <a:lstStyle/>
          <a:p>
            <a:pPr algn="l" marL="0" indent="0" lvl="1">
              <a:lnSpc>
                <a:spcPts val="6370"/>
              </a:lnSpc>
              <a:spcBef>
                <a:spcPct val="0"/>
              </a:spcBef>
            </a:pPr>
            <a:r>
              <a:rPr lang="en-US" sz="3185">
                <a:solidFill>
                  <a:srgbClr val="000000"/>
                </a:solidFill>
                <a:latin typeface="Open Sauce Bold"/>
              </a:rPr>
              <a:t>Présentation d'opera+ </a:t>
            </a:r>
          </a:p>
        </p:txBody>
      </p:sp>
      <p:grpSp>
        <p:nvGrpSpPr>
          <p:cNvPr name="Group 7" id="7"/>
          <p:cNvGrpSpPr/>
          <p:nvPr/>
        </p:nvGrpSpPr>
        <p:grpSpPr>
          <a:xfrm rot="0">
            <a:off x="7788453" y="3471682"/>
            <a:ext cx="771999" cy="771999"/>
            <a:chOff x="0" y="0"/>
            <a:chExt cx="6350000" cy="6350000"/>
          </a:xfrm>
        </p:grpSpPr>
        <p:sp>
          <p:nvSpPr>
            <p:cNvPr name="Freeform 8" id="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9" id="9"/>
          <p:cNvSpPr txBox="true"/>
          <p:nvPr/>
        </p:nvSpPr>
        <p:spPr>
          <a:xfrm rot="0">
            <a:off x="7901847" y="3461251"/>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u="none">
                <a:solidFill>
                  <a:srgbClr val="000000"/>
                </a:solidFill>
                <a:latin typeface="Open Sauce Bold"/>
              </a:rPr>
              <a:t>2</a:t>
            </a:r>
          </a:p>
        </p:txBody>
      </p:sp>
      <p:sp>
        <p:nvSpPr>
          <p:cNvPr name="TextBox 10" id="10"/>
          <p:cNvSpPr txBox="true"/>
          <p:nvPr/>
        </p:nvSpPr>
        <p:spPr>
          <a:xfrm rot="0">
            <a:off x="9204270" y="4895850"/>
            <a:ext cx="7322748" cy="724138"/>
          </a:xfrm>
          <a:prstGeom prst="rect">
            <a:avLst/>
          </a:prstGeom>
        </p:spPr>
        <p:txBody>
          <a:bodyPr anchor="t" rtlCol="false" tIns="0" lIns="0" bIns="0" rIns="0">
            <a:spAutoFit/>
          </a:bodyPr>
          <a:lstStyle/>
          <a:p>
            <a:pPr algn="l" marL="0" indent="0" lvl="1">
              <a:lnSpc>
                <a:spcPts val="6370"/>
              </a:lnSpc>
              <a:spcBef>
                <a:spcPct val="0"/>
              </a:spcBef>
            </a:pPr>
            <a:r>
              <a:rPr lang="en-US" sz="3185">
                <a:solidFill>
                  <a:srgbClr val="000000"/>
                </a:solidFill>
                <a:latin typeface="Open Sauce Bold"/>
              </a:rPr>
              <a:t>questions/réponses </a:t>
            </a:r>
          </a:p>
        </p:txBody>
      </p:sp>
      <p:grpSp>
        <p:nvGrpSpPr>
          <p:cNvPr name="Group 11" id="11"/>
          <p:cNvGrpSpPr/>
          <p:nvPr/>
        </p:nvGrpSpPr>
        <p:grpSpPr>
          <a:xfrm rot="0">
            <a:off x="7901847" y="5030106"/>
            <a:ext cx="771999" cy="771999"/>
            <a:chOff x="0" y="0"/>
            <a:chExt cx="6350000" cy="6350000"/>
          </a:xfrm>
        </p:grpSpPr>
        <p:sp>
          <p:nvSpPr>
            <p:cNvPr name="Freeform 12" id="12"/>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13" id="13"/>
          <p:cNvSpPr txBox="true"/>
          <p:nvPr/>
        </p:nvSpPr>
        <p:spPr>
          <a:xfrm rot="0">
            <a:off x="8015241" y="5019675"/>
            <a:ext cx="545211" cy="669036"/>
          </a:xfrm>
          <a:prstGeom prst="rect">
            <a:avLst/>
          </a:prstGeom>
        </p:spPr>
        <p:txBody>
          <a:bodyPr anchor="t" rtlCol="false" tIns="0" lIns="0" bIns="0" rIns="0">
            <a:spAutoFit/>
          </a:bodyPr>
          <a:lstStyle/>
          <a:p>
            <a:pPr algn="ctr" marL="0" indent="0" lvl="1">
              <a:lnSpc>
                <a:spcPts val="5652"/>
              </a:lnSpc>
              <a:spcBef>
                <a:spcPct val="0"/>
              </a:spcBef>
            </a:pPr>
            <a:r>
              <a:rPr lang="en-US" sz="3600">
                <a:solidFill>
                  <a:srgbClr val="000000"/>
                </a:solidFill>
                <a:latin typeface="Open Sauce Bold"/>
              </a:rPr>
              <a:t>3</a:t>
            </a:r>
          </a:p>
        </p:txBody>
      </p:sp>
      <p:sp>
        <p:nvSpPr>
          <p:cNvPr name="TextBox 14" id="14"/>
          <p:cNvSpPr txBox="true"/>
          <p:nvPr/>
        </p:nvSpPr>
        <p:spPr>
          <a:xfrm rot="0">
            <a:off x="448826" y="2285233"/>
            <a:ext cx="6587152" cy="2419350"/>
          </a:xfrm>
          <a:prstGeom prst="rect">
            <a:avLst/>
          </a:prstGeom>
        </p:spPr>
        <p:txBody>
          <a:bodyPr anchor="t" rtlCol="false" tIns="0" lIns="0" bIns="0" rIns="0">
            <a:spAutoFit/>
          </a:bodyPr>
          <a:lstStyle/>
          <a:p>
            <a:pPr algn="l" marL="0" indent="0" lvl="0">
              <a:lnSpc>
                <a:spcPts val="9570"/>
              </a:lnSpc>
              <a:spcBef>
                <a:spcPct val="0"/>
              </a:spcBef>
            </a:pPr>
            <a:r>
              <a:rPr lang="en-US" sz="7975">
                <a:solidFill>
                  <a:srgbClr val="000000"/>
                </a:solidFill>
                <a:latin typeface="Open Sauce Bold"/>
              </a:rPr>
              <a:t>Plan de présentation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48151" y="2800468"/>
            <a:ext cx="8370976" cy="6058541"/>
            <a:chOff x="0" y="0"/>
            <a:chExt cx="11161301" cy="8078055"/>
          </a:xfrm>
        </p:grpSpPr>
        <p:pic>
          <p:nvPicPr>
            <p:cNvPr name="Picture 3" id="3"/>
            <p:cNvPicPr>
              <a:picLocks noChangeAspect="true"/>
            </p:cNvPicPr>
            <p:nvPr/>
          </p:nvPicPr>
          <p:blipFill>
            <a:blip r:embed="rId2"/>
            <a:srcRect l="21675" t="0" r="21675" b="0"/>
            <a:stretch>
              <a:fillRect/>
            </a:stretch>
          </p:blipFill>
          <p:spPr>
            <a:xfrm>
              <a:off x="0" y="0"/>
              <a:ext cx="11161301" cy="8078055"/>
            </a:xfrm>
            <a:prstGeom prst="rect">
              <a:avLst/>
            </a:prstGeom>
          </p:spPr>
        </p:pic>
      </p:grpSp>
      <p:sp>
        <p:nvSpPr>
          <p:cNvPr name="TextBox 4" id="4"/>
          <p:cNvSpPr txBox="true"/>
          <p:nvPr/>
        </p:nvSpPr>
        <p:spPr>
          <a:xfrm rot="0">
            <a:off x="2194202" y="5955916"/>
            <a:ext cx="7353949" cy="2295525"/>
          </a:xfrm>
          <a:prstGeom prst="rect">
            <a:avLst/>
          </a:prstGeom>
        </p:spPr>
        <p:txBody>
          <a:bodyPr anchor="t" rtlCol="false" tIns="0" lIns="0" bIns="0" rIns="0">
            <a:spAutoFit/>
          </a:bodyPr>
          <a:lstStyle/>
          <a:p>
            <a:pPr>
              <a:lnSpc>
                <a:spcPts val="9123"/>
              </a:lnSpc>
            </a:pPr>
            <a:r>
              <a:rPr lang="en-US" sz="7602">
                <a:solidFill>
                  <a:srgbClr val="000000"/>
                </a:solidFill>
                <a:latin typeface="Open Sauce Bold"/>
              </a:rPr>
              <a:t>Présentation de  BEINFOS+</a:t>
            </a:r>
          </a:p>
        </p:txBody>
      </p:sp>
      <p:grpSp>
        <p:nvGrpSpPr>
          <p:cNvPr name="Group 5" id="5"/>
          <p:cNvGrpSpPr/>
          <p:nvPr/>
        </p:nvGrpSpPr>
        <p:grpSpPr>
          <a:xfrm rot="0">
            <a:off x="2194202" y="2184646"/>
            <a:ext cx="1239263" cy="1231643"/>
            <a:chOff x="0" y="0"/>
            <a:chExt cx="6350000" cy="6350000"/>
          </a:xfrm>
        </p:grpSpPr>
        <p:sp>
          <p:nvSpPr>
            <p:cNvPr name="Freeform 6" id="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7" id="7"/>
          <p:cNvSpPr txBox="true"/>
          <p:nvPr/>
        </p:nvSpPr>
        <p:spPr>
          <a:xfrm rot="0">
            <a:off x="2194202" y="2088823"/>
            <a:ext cx="1239263" cy="1194689"/>
          </a:xfrm>
          <a:prstGeom prst="rect">
            <a:avLst/>
          </a:prstGeom>
        </p:spPr>
        <p:txBody>
          <a:bodyPr anchor="t" rtlCol="false" tIns="0" lIns="0" bIns="0" rIns="0">
            <a:spAutoFit/>
          </a:bodyPr>
          <a:lstStyle/>
          <a:p>
            <a:pPr algn="ctr">
              <a:lnSpc>
                <a:spcPts val="10047"/>
              </a:lnSpc>
            </a:pPr>
            <a:r>
              <a:rPr lang="en-US" sz="6399">
                <a:solidFill>
                  <a:srgbClr val="000000"/>
                </a:solidFill>
                <a:latin typeface="Open Sauce Bold"/>
              </a:rPr>
              <a:t>1</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5671663" cy="10287000"/>
          </a:xfrm>
          <a:prstGeom prst="rect">
            <a:avLst/>
          </a:prstGeom>
          <a:solidFill>
            <a:srgbClr val="38B6FF"/>
          </a:solidFill>
        </p:spPr>
      </p:sp>
      <p:sp>
        <p:nvSpPr>
          <p:cNvPr name="TextBox 3" id="3"/>
          <p:cNvSpPr txBox="true"/>
          <p:nvPr/>
        </p:nvSpPr>
        <p:spPr>
          <a:xfrm rot="0">
            <a:off x="551068" y="3279664"/>
            <a:ext cx="3607001" cy="1500506"/>
          </a:xfrm>
          <a:prstGeom prst="rect">
            <a:avLst/>
          </a:prstGeom>
        </p:spPr>
        <p:txBody>
          <a:bodyPr anchor="t" rtlCol="false" tIns="0" lIns="0" bIns="0" rIns="0">
            <a:spAutoFit/>
          </a:bodyPr>
          <a:lstStyle/>
          <a:p>
            <a:pPr algn="ctr">
              <a:lnSpc>
                <a:spcPts val="6019"/>
              </a:lnSpc>
            </a:pPr>
            <a:r>
              <a:rPr lang="en-US" sz="4299">
                <a:solidFill>
                  <a:srgbClr val="FFFFFF"/>
                </a:solidFill>
                <a:latin typeface="Open Sauce Bold"/>
              </a:rPr>
              <a:t>Qui sommes nous?</a:t>
            </a:r>
          </a:p>
        </p:txBody>
      </p:sp>
      <p:sp>
        <p:nvSpPr>
          <p:cNvPr name="TextBox 4" id="4"/>
          <p:cNvSpPr txBox="true"/>
          <p:nvPr/>
        </p:nvSpPr>
        <p:spPr>
          <a:xfrm rot="0">
            <a:off x="6320974" y="2250758"/>
            <a:ext cx="11967026" cy="5718810"/>
          </a:xfrm>
          <a:prstGeom prst="rect">
            <a:avLst/>
          </a:prstGeom>
        </p:spPr>
        <p:txBody>
          <a:bodyPr anchor="t" rtlCol="false" tIns="0" lIns="0" bIns="0" rIns="0">
            <a:spAutoFit/>
          </a:bodyPr>
          <a:lstStyle/>
          <a:p>
            <a:pPr algn="l" marL="0" indent="0" lvl="0">
              <a:lnSpc>
                <a:spcPts val="5040"/>
              </a:lnSpc>
              <a:spcBef>
                <a:spcPct val="0"/>
              </a:spcBef>
            </a:pPr>
            <a:r>
              <a:rPr lang="en-US" sz="3600">
                <a:solidFill>
                  <a:srgbClr val="000000"/>
                </a:solidFill>
                <a:latin typeface="Open Sauce Bold"/>
              </a:rPr>
              <a:t>BeInfos Plus est un cabinet spécialisé depuis 7 ans environ dans le développement informatique sur mesure. Professionnels des solutions informatiques personnalisées, notre équipe de développeurs utilisent les technologies les plus avancées afin de pouvoir vous proposer des outils performants et innovants. Nous mettons notre savoir-faire à disposition pour mieux accompagner les entreprises dans leurs activités.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327835" y="1918945"/>
            <a:ext cx="7000610" cy="1345357"/>
            <a:chOff x="0" y="0"/>
            <a:chExt cx="5420212" cy="1041641"/>
          </a:xfrm>
        </p:grpSpPr>
        <p:sp>
          <p:nvSpPr>
            <p:cNvPr name="Freeform 3" id="3"/>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sp>
        <p:nvSpPr>
          <p:cNvPr name="TextBox 4" id="4"/>
          <p:cNvSpPr txBox="true"/>
          <p:nvPr/>
        </p:nvSpPr>
        <p:spPr>
          <a:xfrm rot="0">
            <a:off x="9795179" y="2290633"/>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O-INDICE+</a:t>
            </a:r>
          </a:p>
        </p:txBody>
      </p:sp>
      <p:grpSp>
        <p:nvGrpSpPr>
          <p:cNvPr name="Group 5" id="5"/>
          <p:cNvGrpSpPr/>
          <p:nvPr/>
        </p:nvGrpSpPr>
        <p:grpSpPr>
          <a:xfrm rot="0">
            <a:off x="9327835" y="3664714"/>
            <a:ext cx="7000610" cy="1345357"/>
            <a:chOff x="0" y="0"/>
            <a:chExt cx="5420212" cy="1041641"/>
          </a:xfrm>
        </p:grpSpPr>
        <p:sp>
          <p:nvSpPr>
            <p:cNvPr name="Freeform 6" id="6"/>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sp>
        <p:nvSpPr>
          <p:cNvPr name="TextBox 7" id="7"/>
          <p:cNvSpPr txBox="true"/>
          <p:nvPr/>
        </p:nvSpPr>
        <p:spPr>
          <a:xfrm rot="0">
            <a:off x="9795179" y="4036402"/>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SCHOLAR+</a:t>
            </a:r>
          </a:p>
        </p:txBody>
      </p:sp>
      <p:grpSp>
        <p:nvGrpSpPr>
          <p:cNvPr name="Group 8" id="8"/>
          <p:cNvGrpSpPr/>
          <p:nvPr/>
        </p:nvGrpSpPr>
        <p:grpSpPr>
          <a:xfrm rot="0">
            <a:off x="9327835" y="5410483"/>
            <a:ext cx="7000610" cy="1345357"/>
            <a:chOff x="0" y="0"/>
            <a:chExt cx="5420212" cy="1041641"/>
          </a:xfrm>
        </p:grpSpPr>
        <p:sp>
          <p:nvSpPr>
            <p:cNvPr name="Freeform 9" id="9"/>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sp>
        <p:nvSpPr>
          <p:cNvPr name="TextBox 10" id="10"/>
          <p:cNvSpPr txBox="true"/>
          <p:nvPr/>
        </p:nvSpPr>
        <p:spPr>
          <a:xfrm rot="0">
            <a:off x="9795179" y="5782171"/>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EPARGNE+</a:t>
            </a:r>
          </a:p>
        </p:txBody>
      </p:sp>
      <p:grpSp>
        <p:nvGrpSpPr>
          <p:cNvPr name="Group 11" id="11"/>
          <p:cNvGrpSpPr/>
          <p:nvPr/>
        </p:nvGrpSpPr>
        <p:grpSpPr>
          <a:xfrm rot="0">
            <a:off x="9327835" y="7156252"/>
            <a:ext cx="7000610" cy="1345357"/>
            <a:chOff x="0" y="0"/>
            <a:chExt cx="5420212" cy="1041641"/>
          </a:xfrm>
        </p:grpSpPr>
        <p:sp>
          <p:nvSpPr>
            <p:cNvPr name="Freeform 12" id="12"/>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sp>
        <p:nvSpPr>
          <p:cNvPr name="TextBox 13" id="13"/>
          <p:cNvSpPr txBox="true"/>
          <p:nvPr/>
        </p:nvSpPr>
        <p:spPr>
          <a:xfrm rot="0">
            <a:off x="9795179" y="7527941"/>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CONTRAT+</a:t>
            </a:r>
          </a:p>
        </p:txBody>
      </p:sp>
      <p:sp>
        <p:nvSpPr>
          <p:cNvPr name="TextBox 14" id="14"/>
          <p:cNvSpPr txBox="true"/>
          <p:nvPr/>
        </p:nvSpPr>
        <p:spPr>
          <a:xfrm rot="0">
            <a:off x="1959555" y="1785391"/>
            <a:ext cx="6687186" cy="2419350"/>
          </a:xfrm>
          <a:prstGeom prst="rect">
            <a:avLst/>
          </a:prstGeom>
        </p:spPr>
        <p:txBody>
          <a:bodyPr anchor="t" rtlCol="false" tIns="0" lIns="0" bIns="0" rIns="0">
            <a:spAutoFit/>
          </a:bodyPr>
          <a:lstStyle/>
          <a:p>
            <a:pPr algn="l" marL="0" indent="0" lvl="0">
              <a:lnSpc>
                <a:spcPts val="9570"/>
              </a:lnSpc>
              <a:spcBef>
                <a:spcPct val="0"/>
              </a:spcBef>
            </a:pPr>
            <a:r>
              <a:rPr lang="en-US" sz="7975">
                <a:solidFill>
                  <a:srgbClr val="000000"/>
                </a:solidFill>
                <a:latin typeface="Open Sauce Bold"/>
              </a:rPr>
              <a:t>NOS SOLUTIONS </a:t>
            </a:r>
          </a:p>
        </p:txBody>
      </p:sp>
      <p:grpSp>
        <p:nvGrpSpPr>
          <p:cNvPr name="Group 15" id="15"/>
          <p:cNvGrpSpPr/>
          <p:nvPr/>
        </p:nvGrpSpPr>
        <p:grpSpPr>
          <a:xfrm rot="0">
            <a:off x="9327835" y="356022"/>
            <a:ext cx="7000610" cy="1345357"/>
            <a:chOff x="0" y="0"/>
            <a:chExt cx="5420212" cy="1041641"/>
          </a:xfrm>
        </p:grpSpPr>
        <p:sp>
          <p:nvSpPr>
            <p:cNvPr name="Freeform 16" id="16"/>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grpSp>
        <p:nvGrpSpPr>
          <p:cNvPr name="Group 17" id="17"/>
          <p:cNvGrpSpPr/>
          <p:nvPr/>
        </p:nvGrpSpPr>
        <p:grpSpPr>
          <a:xfrm rot="0">
            <a:off x="9327835" y="8720684"/>
            <a:ext cx="7000610" cy="1345357"/>
            <a:chOff x="0" y="0"/>
            <a:chExt cx="5420212" cy="1041641"/>
          </a:xfrm>
        </p:grpSpPr>
        <p:sp>
          <p:nvSpPr>
            <p:cNvPr name="Freeform 18" id="18"/>
            <p:cNvSpPr/>
            <p:nvPr/>
          </p:nvSpPr>
          <p:spPr>
            <a:xfrm>
              <a:off x="0" y="0"/>
              <a:ext cx="5420212" cy="1041641"/>
            </a:xfrm>
            <a:custGeom>
              <a:avLst/>
              <a:gdLst/>
              <a:ahLst/>
              <a:cxnLst/>
              <a:rect r="r" b="b" t="t" l="l"/>
              <a:pathLst>
                <a:path h="1041641" w="5420212">
                  <a:moveTo>
                    <a:pt x="5295752" y="1041640"/>
                  </a:moveTo>
                  <a:lnTo>
                    <a:pt x="124460" y="1041640"/>
                  </a:lnTo>
                  <a:cubicBezTo>
                    <a:pt x="55880" y="1041640"/>
                    <a:pt x="0" y="985760"/>
                    <a:pt x="0" y="917180"/>
                  </a:cubicBezTo>
                  <a:lnTo>
                    <a:pt x="0" y="124460"/>
                  </a:lnTo>
                  <a:cubicBezTo>
                    <a:pt x="0" y="55880"/>
                    <a:pt x="55880" y="0"/>
                    <a:pt x="124460" y="0"/>
                  </a:cubicBezTo>
                  <a:lnTo>
                    <a:pt x="5295752" y="0"/>
                  </a:lnTo>
                  <a:cubicBezTo>
                    <a:pt x="5364332" y="0"/>
                    <a:pt x="5420212" y="55880"/>
                    <a:pt x="5420212" y="124460"/>
                  </a:cubicBezTo>
                  <a:lnTo>
                    <a:pt x="5420212" y="917181"/>
                  </a:lnTo>
                  <a:cubicBezTo>
                    <a:pt x="5420212" y="985761"/>
                    <a:pt x="5364332" y="1041641"/>
                    <a:pt x="5295752" y="1041641"/>
                  </a:cubicBezTo>
                  <a:close/>
                </a:path>
              </a:pathLst>
            </a:custGeom>
            <a:solidFill>
              <a:srgbClr val="38B6FF"/>
            </a:solidFill>
          </p:spPr>
        </p:sp>
      </p:grpSp>
      <p:sp>
        <p:nvSpPr>
          <p:cNvPr name="TextBox 19" id="19"/>
          <p:cNvSpPr txBox="true"/>
          <p:nvPr/>
        </p:nvSpPr>
        <p:spPr>
          <a:xfrm rot="0">
            <a:off x="9840070" y="727224"/>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OSPITAL+DESK</a:t>
            </a:r>
          </a:p>
        </p:txBody>
      </p:sp>
      <p:sp>
        <p:nvSpPr>
          <p:cNvPr name="TextBox 20" id="20"/>
          <p:cNvSpPr txBox="true"/>
          <p:nvPr/>
        </p:nvSpPr>
        <p:spPr>
          <a:xfrm rot="0">
            <a:off x="9795179" y="9092159"/>
            <a:ext cx="5976140" cy="467820"/>
          </a:xfrm>
          <a:prstGeom prst="rect">
            <a:avLst/>
          </a:prstGeom>
        </p:spPr>
        <p:txBody>
          <a:bodyPr anchor="t" rtlCol="false" tIns="0" lIns="0" bIns="0" rIns="0">
            <a:spAutoFit/>
          </a:bodyPr>
          <a:lstStyle/>
          <a:p>
            <a:pPr algn="l" marL="0" indent="0" lvl="0">
              <a:lnSpc>
                <a:spcPts val="3787"/>
              </a:lnSpc>
              <a:spcBef>
                <a:spcPct val="0"/>
              </a:spcBef>
            </a:pPr>
            <a:r>
              <a:rPr lang="en-US" sz="2913">
                <a:solidFill>
                  <a:srgbClr val="000000"/>
                </a:solidFill>
                <a:latin typeface="Open Sauce Bold"/>
              </a:rPr>
              <a:t>OPERA+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1308" y="216573"/>
            <a:ext cx="3455868" cy="6182881"/>
            <a:chOff x="0" y="0"/>
            <a:chExt cx="4607824" cy="8243842"/>
          </a:xfrm>
        </p:grpSpPr>
        <p:pic>
          <p:nvPicPr>
            <p:cNvPr name="Picture 3" id="3"/>
            <p:cNvPicPr>
              <a:picLocks noChangeAspect="true"/>
            </p:cNvPicPr>
            <p:nvPr/>
          </p:nvPicPr>
          <p:blipFill>
            <a:blip r:embed="rId2"/>
            <a:srcRect l="0" t="2290" r="0" b="2290"/>
            <a:stretch>
              <a:fillRect/>
            </a:stretch>
          </p:blipFill>
          <p:spPr>
            <a:xfrm>
              <a:off x="0" y="0"/>
              <a:ext cx="4607824" cy="8243842"/>
            </a:xfrm>
            <a:prstGeom prst="rect">
              <a:avLst/>
            </a:prstGeom>
          </p:spPr>
        </p:pic>
      </p:grpSp>
      <p:grpSp>
        <p:nvGrpSpPr>
          <p:cNvPr name="Group 4" id="4"/>
          <p:cNvGrpSpPr/>
          <p:nvPr/>
        </p:nvGrpSpPr>
        <p:grpSpPr>
          <a:xfrm rot="0">
            <a:off x="0" y="6749838"/>
            <a:ext cx="6657490" cy="3537162"/>
            <a:chOff x="0" y="0"/>
            <a:chExt cx="8876654" cy="4716216"/>
          </a:xfrm>
        </p:grpSpPr>
        <p:pic>
          <p:nvPicPr>
            <p:cNvPr name="Picture 5" id="5"/>
            <p:cNvPicPr>
              <a:picLocks noChangeAspect="true"/>
            </p:cNvPicPr>
            <p:nvPr/>
          </p:nvPicPr>
          <p:blipFill>
            <a:blip r:embed="rId3"/>
            <a:srcRect l="0" t="12211" r="0" b="12211"/>
            <a:stretch>
              <a:fillRect/>
            </a:stretch>
          </p:blipFill>
          <p:spPr>
            <a:xfrm>
              <a:off x="0" y="0"/>
              <a:ext cx="8876654" cy="4716216"/>
            </a:xfrm>
            <a:prstGeom prst="rect">
              <a:avLst/>
            </a:prstGeom>
          </p:spPr>
        </p:pic>
      </p:grpSp>
      <p:grpSp>
        <p:nvGrpSpPr>
          <p:cNvPr name="Group 6" id="6"/>
          <p:cNvGrpSpPr/>
          <p:nvPr/>
        </p:nvGrpSpPr>
        <p:grpSpPr>
          <a:xfrm rot="0">
            <a:off x="7041821" y="6997709"/>
            <a:ext cx="6249966" cy="3289291"/>
            <a:chOff x="0" y="0"/>
            <a:chExt cx="8333288" cy="4385721"/>
          </a:xfrm>
        </p:grpSpPr>
        <p:pic>
          <p:nvPicPr>
            <p:cNvPr name="Picture 7" id="7"/>
            <p:cNvPicPr>
              <a:picLocks noChangeAspect="true"/>
            </p:cNvPicPr>
            <p:nvPr/>
          </p:nvPicPr>
          <p:blipFill>
            <a:blip r:embed="rId4"/>
            <a:srcRect l="0" t="2242" r="0" b="2242"/>
            <a:stretch>
              <a:fillRect/>
            </a:stretch>
          </p:blipFill>
          <p:spPr>
            <a:xfrm>
              <a:off x="0" y="0"/>
              <a:ext cx="8333288" cy="4385721"/>
            </a:xfrm>
            <a:prstGeom prst="rect">
              <a:avLst/>
            </a:prstGeom>
          </p:spPr>
        </p:pic>
      </p:grpSp>
      <p:grpSp>
        <p:nvGrpSpPr>
          <p:cNvPr name="Group 8" id="8"/>
          <p:cNvGrpSpPr/>
          <p:nvPr/>
        </p:nvGrpSpPr>
        <p:grpSpPr>
          <a:xfrm rot="0">
            <a:off x="13460126" y="4177659"/>
            <a:ext cx="4827874" cy="6109341"/>
            <a:chOff x="0" y="0"/>
            <a:chExt cx="6437165" cy="8145787"/>
          </a:xfrm>
        </p:grpSpPr>
        <p:pic>
          <p:nvPicPr>
            <p:cNvPr name="Picture 9" id="9"/>
            <p:cNvPicPr>
              <a:picLocks noChangeAspect="true"/>
            </p:cNvPicPr>
            <p:nvPr/>
          </p:nvPicPr>
          <p:blipFill>
            <a:blip r:embed="rId5"/>
            <a:srcRect l="0" t="5265" r="0" b="5265"/>
            <a:stretch>
              <a:fillRect/>
            </a:stretch>
          </p:blipFill>
          <p:spPr>
            <a:xfrm>
              <a:off x="0" y="0"/>
              <a:ext cx="6437165" cy="8145787"/>
            </a:xfrm>
            <a:prstGeom prst="rect">
              <a:avLst/>
            </a:prstGeom>
          </p:spPr>
        </p:pic>
      </p:grpSp>
      <p:grpSp>
        <p:nvGrpSpPr>
          <p:cNvPr name="Group 10" id="10"/>
          <p:cNvGrpSpPr/>
          <p:nvPr/>
        </p:nvGrpSpPr>
        <p:grpSpPr>
          <a:xfrm rot="0">
            <a:off x="13460126" y="0"/>
            <a:ext cx="4827874" cy="3525551"/>
            <a:chOff x="0" y="0"/>
            <a:chExt cx="6437165" cy="4700735"/>
          </a:xfrm>
        </p:grpSpPr>
        <p:pic>
          <p:nvPicPr>
            <p:cNvPr name="Picture 11" id="11"/>
            <p:cNvPicPr>
              <a:picLocks noChangeAspect="true"/>
            </p:cNvPicPr>
            <p:nvPr/>
          </p:nvPicPr>
          <p:blipFill>
            <a:blip r:embed="rId6"/>
            <a:srcRect l="32363" t="16952" r="32363" b="16952"/>
            <a:stretch>
              <a:fillRect/>
            </a:stretch>
          </p:blipFill>
          <p:spPr>
            <a:xfrm>
              <a:off x="0" y="0"/>
              <a:ext cx="6437165" cy="4700735"/>
            </a:xfrm>
            <a:prstGeom prst="rect">
              <a:avLst/>
            </a:prstGeom>
          </p:spPr>
        </p:pic>
      </p:grpSp>
      <p:grpSp>
        <p:nvGrpSpPr>
          <p:cNvPr name="Group 12" id="12"/>
          <p:cNvGrpSpPr/>
          <p:nvPr/>
        </p:nvGrpSpPr>
        <p:grpSpPr>
          <a:xfrm rot="0">
            <a:off x="13460126" y="0"/>
            <a:ext cx="4827874" cy="3525551"/>
            <a:chOff x="0" y="0"/>
            <a:chExt cx="6437165" cy="4700735"/>
          </a:xfrm>
        </p:grpSpPr>
        <p:pic>
          <p:nvPicPr>
            <p:cNvPr name="Picture 13" id="13"/>
            <p:cNvPicPr>
              <a:picLocks noChangeAspect="true"/>
            </p:cNvPicPr>
            <p:nvPr/>
          </p:nvPicPr>
          <p:blipFill>
            <a:blip r:embed="rId7"/>
            <a:srcRect l="15743" t="0" r="15743" b="0"/>
            <a:stretch>
              <a:fillRect/>
            </a:stretch>
          </p:blipFill>
          <p:spPr>
            <a:xfrm>
              <a:off x="0" y="0"/>
              <a:ext cx="6437165" cy="4700735"/>
            </a:xfrm>
            <a:prstGeom prst="rect">
              <a:avLst/>
            </a:prstGeom>
          </p:spPr>
        </p:pic>
      </p:grpSp>
      <p:grpSp>
        <p:nvGrpSpPr>
          <p:cNvPr name="Group 14" id="14"/>
          <p:cNvGrpSpPr/>
          <p:nvPr/>
        </p:nvGrpSpPr>
        <p:grpSpPr>
          <a:xfrm rot="0">
            <a:off x="4908226" y="216573"/>
            <a:ext cx="7228506" cy="3308979"/>
            <a:chOff x="0" y="0"/>
            <a:chExt cx="9638008" cy="4411971"/>
          </a:xfrm>
        </p:grpSpPr>
        <p:pic>
          <p:nvPicPr>
            <p:cNvPr name="Picture 15" id="15"/>
            <p:cNvPicPr>
              <a:picLocks noChangeAspect="true"/>
            </p:cNvPicPr>
            <p:nvPr/>
          </p:nvPicPr>
          <p:blipFill>
            <a:blip r:embed="rId8"/>
            <a:srcRect l="0" t="3910" r="0" b="3910"/>
            <a:stretch>
              <a:fillRect/>
            </a:stretch>
          </p:blipFill>
          <p:spPr>
            <a:xfrm>
              <a:off x="0" y="0"/>
              <a:ext cx="9638008" cy="4411971"/>
            </a:xfrm>
            <a:prstGeom prst="rect">
              <a:avLst/>
            </a:prstGeom>
          </p:spPr>
        </p:pic>
      </p:grpSp>
      <p:sp>
        <p:nvSpPr>
          <p:cNvPr name="TextBox 16" id="16"/>
          <p:cNvSpPr txBox="true"/>
          <p:nvPr/>
        </p:nvSpPr>
        <p:spPr>
          <a:xfrm rot="0">
            <a:off x="5605009" y="4662488"/>
            <a:ext cx="7077983" cy="962025"/>
          </a:xfrm>
          <a:prstGeom prst="rect">
            <a:avLst/>
          </a:prstGeom>
        </p:spPr>
        <p:txBody>
          <a:bodyPr anchor="t" rtlCol="false" tIns="0" lIns="0" bIns="0" rIns="0">
            <a:spAutoFit/>
          </a:bodyPr>
          <a:lstStyle/>
          <a:p>
            <a:pPr algn="ctr" marL="0" indent="0" lvl="0">
              <a:lnSpc>
                <a:spcPts val="7607"/>
              </a:lnSpc>
              <a:spcBef>
                <a:spcPct val="0"/>
              </a:spcBef>
            </a:pPr>
            <a:r>
              <a:rPr lang="en-US" sz="6339">
                <a:solidFill>
                  <a:srgbClr val="000000"/>
                </a:solidFill>
                <a:latin typeface="Open Sauce Bold"/>
              </a:rPr>
              <a:t>NOS SOLUTIONS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72106" y="6698144"/>
            <a:ext cx="2445931" cy="378190"/>
          </a:xfrm>
          <a:prstGeom prst="rect">
            <a:avLst/>
          </a:prstGeom>
        </p:spPr>
        <p:txBody>
          <a:bodyPr anchor="t" rtlCol="false" tIns="0" lIns="0" bIns="0" rIns="0">
            <a:spAutoFit/>
          </a:bodyPr>
          <a:lstStyle/>
          <a:p>
            <a:pPr algn="l" marL="0" indent="0" lvl="0">
              <a:lnSpc>
                <a:spcPts val="3110"/>
              </a:lnSpc>
              <a:spcBef>
                <a:spcPct val="0"/>
              </a:spcBef>
            </a:pPr>
            <a:r>
              <a:rPr lang="en-US" sz="2073">
                <a:solidFill>
                  <a:srgbClr val="000000"/>
                </a:solidFill>
                <a:latin typeface="Open Sauce Bold"/>
              </a:rPr>
              <a:t>Directeur général </a:t>
            </a:r>
          </a:p>
        </p:txBody>
      </p:sp>
      <p:sp>
        <p:nvSpPr>
          <p:cNvPr name="TextBox 3" id="3"/>
          <p:cNvSpPr txBox="true"/>
          <p:nvPr/>
        </p:nvSpPr>
        <p:spPr>
          <a:xfrm rot="0">
            <a:off x="4510158" y="6658639"/>
            <a:ext cx="3018755" cy="768715"/>
          </a:xfrm>
          <a:prstGeom prst="rect">
            <a:avLst/>
          </a:prstGeom>
        </p:spPr>
        <p:txBody>
          <a:bodyPr anchor="t" rtlCol="false" tIns="0" lIns="0" bIns="0" rIns="0">
            <a:spAutoFit/>
          </a:bodyPr>
          <a:lstStyle/>
          <a:p>
            <a:pPr>
              <a:lnSpc>
                <a:spcPts val="3110"/>
              </a:lnSpc>
            </a:pPr>
            <a:r>
              <a:rPr lang="en-US" sz="2073">
                <a:solidFill>
                  <a:srgbClr val="000000"/>
                </a:solidFill>
                <a:latin typeface="Open Sauce Bold"/>
              </a:rPr>
              <a:t>Raoul BELLA</a:t>
            </a:r>
          </a:p>
          <a:p>
            <a:pPr>
              <a:lnSpc>
                <a:spcPts val="3110"/>
              </a:lnSpc>
            </a:pPr>
            <a:r>
              <a:rPr lang="en-US" sz="2073">
                <a:solidFill>
                  <a:srgbClr val="000000"/>
                </a:solidFill>
                <a:latin typeface="Open Sauce Bold"/>
              </a:rPr>
              <a:t>Directeur commercial </a:t>
            </a:r>
          </a:p>
        </p:txBody>
      </p:sp>
      <p:sp>
        <p:nvSpPr>
          <p:cNvPr name="TextBox 4" id="4"/>
          <p:cNvSpPr txBox="true"/>
          <p:nvPr/>
        </p:nvSpPr>
        <p:spPr>
          <a:xfrm rot="0">
            <a:off x="7693880" y="6698144"/>
            <a:ext cx="2900240" cy="768715"/>
          </a:xfrm>
          <a:prstGeom prst="rect">
            <a:avLst/>
          </a:prstGeom>
        </p:spPr>
        <p:txBody>
          <a:bodyPr anchor="t" rtlCol="false" tIns="0" lIns="0" bIns="0" rIns="0">
            <a:spAutoFit/>
          </a:bodyPr>
          <a:lstStyle/>
          <a:p>
            <a:pPr>
              <a:lnSpc>
                <a:spcPts val="3110"/>
              </a:lnSpc>
            </a:pPr>
            <a:r>
              <a:rPr lang="en-US" sz="2073">
                <a:solidFill>
                  <a:srgbClr val="000000"/>
                </a:solidFill>
                <a:latin typeface="Open Sauce Bold"/>
              </a:rPr>
              <a:t>Henock MFOUAPON</a:t>
            </a:r>
          </a:p>
          <a:p>
            <a:pPr>
              <a:lnSpc>
                <a:spcPts val="3110"/>
              </a:lnSpc>
            </a:pPr>
            <a:r>
              <a:rPr lang="en-US" sz="2073">
                <a:solidFill>
                  <a:srgbClr val="000000"/>
                </a:solidFill>
                <a:latin typeface="Open Sauce Bold"/>
              </a:rPr>
              <a:t>Ingenieur consultant </a:t>
            </a:r>
          </a:p>
        </p:txBody>
      </p:sp>
      <p:sp>
        <p:nvSpPr>
          <p:cNvPr name="TextBox 5" id="5"/>
          <p:cNvSpPr txBox="true"/>
          <p:nvPr/>
        </p:nvSpPr>
        <p:spPr>
          <a:xfrm rot="0">
            <a:off x="11045499" y="6698144"/>
            <a:ext cx="2979250" cy="768715"/>
          </a:xfrm>
          <a:prstGeom prst="rect">
            <a:avLst/>
          </a:prstGeom>
        </p:spPr>
        <p:txBody>
          <a:bodyPr anchor="t" rtlCol="false" tIns="0" lIns="0" bIns="0" rIns="0">
            <a:spAutoFit/>
          </a:bodyPr>
          <a:lstStyle/>
          <a:p>
            <a:pPr>
              <a:lnSpc>
                <a:spcPts val="3110"/>
              </a:lnSpc>
            </a:pPr>
            <a:r>
              <a:rPr lang="en-US" sz="2073">
                <a:solidFill>
                  <a:srgbClr val="000000"/>
                </a:solidFill>
                <a:latin typeface="Open Sauce Bold"/>
              </a:rPr>
              <a:t>Franck NGABA</a:t>
            </a:r>
          </a:p>
          <a:p>
            <a:pPr>
              <a:lnSpc>
                <a:spcPts val="3110"/>
              </a:lnSpc>
            </a:pPr>
            <a:r>
              <a:rPr lang="en-US" sz="2073">
                <a:solidFill>
                  <a:srgbClr val="000000"/>
                </a:solidFill>
                <a:latin typeface="Open Sauce Bold"/>
              </a:rPr>
              <a:t>Ingénieur informatique </a:t>
            </a:r>
          </a:p>
        </p:txBody>
      </p:sp>
      <p:sp>
        <p:nvSpPr>
          <p:cNvPr name="TextBox 6" id="6"/>
          <p:cNvSpPr txBox="true"/>
          <p:nvPr/>
        </p:nvSpPr>
        <p:spPr>
          <a:xfrm rot="0">
            <a:off x="14169963" y="6698144"/>
            <a:ext cx="3089337" cy="768715"/>
          </a:xfrm>
          <a:prstGeom prst="rect">
            <a:avLst/>
          </a:prstGeom>
        </p:spPr>
        <p:txBody>
          <a:bodyPr anchor="t" rtlCol="false" tIns="0" lIns="0" bIns="0" rIns="0">
            <a:spAutoFit/>
          </a:bodyPr>
          <a:lstStyle/>
          <a:p>
            <a:pPr>
              <a:lnSpc>
                <a:spcPts val="3110"/>
              </a:lnSpc>
            </a:pPr>
            <a:r>
              <a:rPr lang="en-US" sz="2073">
                <a:solidFill>
                  <a:srgbClr val="000000"/>
                </a:solidFill>
                <a:latin typeface="Open Sauce Bold"/>
              </a:rPr>
              <a:t>Marc WAMBA</a:t>
            </a:r>
          </a:p>
          <a:p>
            <a:pPr>
              <a:lnSpc>
                <a:spcPts val="3110"/>
              </a:lnSpc>
            </a:pPr>
            <a:r>
              <a:rPr lang="en-US" sz="2073">
                <a:solidFill>
                  <a:srgbClr val="000000"/>
                </a:solidFill>
                <a:latin typeface="Open Sauce Bold"/>
              </a:rPr>
              <a:t>ingenieur informatique </a:t>
            </a:r>
          </a:p>
        </p:txBody>
      </p:sp>
      <p:grpSp>
        <p:nvGrpSpPr>
          <p:cNvPr name="Group 7" id="7"/>
          <p:cNvGrpSpPr/>
          <p:nvPr/>
        </p:nvGrpSpPr>
        <p:grpSpPr>
          <a:xfrm rot="0">
            <a:off x="1672106" y="2402041"/>
            <a:ext cx="2445931" cy="4018315"/>
            <a:chOff x="0" y="0"/>
            <a:chExt cx="3261241" cy="5357753"/>
          </a:xfrm>
        </p:grpSpPr>
        <p:pic>
          <p:nvPicPr>
            <p:cNvPr name="Picture 8" id="8"/>
            <p:cNvPicPr>
              <a:picLocks noChangeAspect="true"/>
            </p:cNvPicPr>
            <p:nvPr/>
          </p:nvPicPr>
          <p:blipFill>
            <a:blip r:embed="rId2"/>
            <a:srcRect l="19396" t="0" r="19396" b="0"/>
            <a:stretch>
              <a:fillRect/>
            </a:stretch>
          </p:blipFill>
          <p:spPr>
            <a:xfrm>
              <a:off x="0" y="0"/>
              <a:ext cx="3261241" cy="5357753"/>
            </a:xfrm>
            <a:prstGeom prst="rect">
              <a:avLst/>
            </a:prstGeom>
          </p:spPr>
        </p:pic>
      </p:grpSp>
      <p:grpSp>
        <p:nvGrpSpPr>
          <p:cNvPr name="Group 9" id="9"/>
          <p:cNvGrpSpPr/>
          <p:nvPr/>
        </p:nvGrpSpPr>
        <p:grpSpPr>
          <a:xfrm rot="0">
            <a:off x="4796570" y="2402041"/>
            <a:ext cx="2445931" cy="4018315"/>
            <a:chOff x="0" y="0"/>
            <a:chExt cx="3261241" cy="5357753"/>
          </a:xfrm>
        </p:grpSpPr>
        <p:pic>
          <p:nvPicPr>
            <p:cNvPr name="Picture 10" id="10"/>
            <p:cNvPicPr>
              <a:picLocks noChangeAspect="true"/>
            </p:cNvPicPr>
            <p:nvPr/>
          </p:nvPicPr>
          <p:blipFill>
            <a:blip r:embed="rId3"/>
            <a:srcRect l="0" t="4410" r="0" b="4410"/>
            <a:stretch>
              <a:fillRect/>
            </a:stretch>
          </p:blipFill>
          <p:spPr>
            <a:xfrm>
              <a:off x="0" y="0"/>
              <a:ext cx="3261241" cy="5357753"/>
            </a:xfrm>
            <a:prstGeom prst="rect">
              <a:avLst/>
            </a:prstGeom>
          </p:spPr>
        </p:pic>
      </p:grpSp>
      <p:grpSp>
        <p:nvGrpSpPr>
          <p:cNvPr name="Group 11" id="11"/>
          <p:cNvGrpSpPr/>
          <p:nvPr/>
        </p:nvGrpSpPr>
        <p:grpSpPr>
          <a:xfrm rot="0">
            <a:off x="7921035" y="2402041"/>
            <a:ext cx="2445931" cy="4018315"/>
            <a:chOff x="0" y="0"/>
            <a:chExt cx="3261241" cy="5357753"/>
          </a:xfrm>
        </p:grpSpPr>
        <p:pic>
          <p:nvPicPr>
            <p:cNvPr name="Picture 12" id="12"/>
            <p:cNvPicPr>
              <a:picLocks noChangeAspect="true"/>
            </p:cNvPicPr>
            <p:nvPr/>
          </p:nvPicPr>
          <p:blipFill>
            <a:blip r:embed="rId4"/>
            <a:srcRect l="0" t="564" r="0" b="564"/>
            <a:stretch>
              <a:fillRect/>
            </a:stretch>
          </p:blipFill>
          <p:spPr>
            <a:xfrm>
              <a:off x="0" y="0"/>
              <a:ext cx="3261241" cy="5357753"/>
            </a:xfrm>
            <a:prstGeom prst="rect">
              <a:avLst/>
            </a:prstGeom>
          </p:spPr>
        </p:pic>
      </p:grpSp>
      <p:grpSp>
        <p:nvGrpSpPr>
          <p:cNvPr name="Group 13" id="13"/>
          <p:cNvGrpSpPr/>
          <p:nvPr/>
        </p:nvGrpSpPr>
        <p:grpSpPr>
          <a:xfrm rot="0">
            <a:off x="11045499" y="2402041"/>
            <a:ext cx="2445931" cy="4018315"/>
            <a:chOff x="0" y="0"/>
            <a:chExt cx="3261241" cy="5357753"/>
          </a:xfrm>
        </p:grpSpPr>
        <p:pic>
          <p:nvPicPr>
            <p:cNvPr name="Picture 14" id="14"/>
            <p:cNvPicPr>
              <a:picLocks noChangeAspect="true"/>
            </p:cNvPicPr>
            <p:nvPr/>
          </p:nvPicPr>
          <p:blipFill>
            <a:blip r:embed="rId5"/>
            <a:srcRect l="19565" t="0" r="19565" b="0"/>
            <a:stretch>
              <a:fillRect/>
            </a:stretch>
          </p:blipFill>
          <p:spPr>
            <a:xfrm>
              <a:off x="0" y="0"/>
              <a:ext cx="3261241" cy="5357753"/>
            </a:xfrm>
            <a:prstGeom prst="rect">
              <a:avLst/>
            </a:prstGeom>
          </p:spPr>
        </p:pic>
      </p:grpSp>
      <p:grpSp>
        <p:nvGrpSpPr>
          <p:cNvPr name="Group 15" id="15"/>
          <p:cNvGrpSpPr/>
          <p:nvPr/>
        </p:nvGrpSpPr>
        <p:grpSpPr>
          <a:xfrm rot="0">
            <a:off x="14169963" y="2402041"/>
            <a:ext cx="2445931" cy="4018315"/>
            <a:chOff x="0" y="0"/>
            <a:chExt cx="3261241" cy="5357753"/>
          </a:xfrm>
        </p:grpSpPr>
        <p:pic>
          <p:nvPicPr>
            <p:cNvPr name="Picture 16" id="16"/>
            <p:cNvPicPr>
              <a:picLocks noChangeAspect="true"/>
            </p:cNvPicPr>
            <p:nvPr/>
          </p:nvPicPr>
          <p:blipFill>
            <a:blip r:embed="rId6"/>
            <a:srcRect l="15994" t="0" r="15994" b="0"/>
            <a:stretch>
              <a:fillRect/>
            </a:stretch>
          </p:blipFill>
          <p:spPr>
            <a:xfrm>
              <a:off x="0" y="0"/>
              <a:ext cx="3261241" cy="5357753"/>
            </a:xfrm>
            <a:prstGeom prst="rect">
              <a:avLst/>
            </a:prstGeom>
          </p:spPr>
        </p:pic>
      </p:grpSp>
      <p:sp>
        <p:nvSpPr>
          <p:cNvPr name="TextBox 17" id="17"/>
          <p:cNvSpPr txBox="true"/>
          <p:nvPr/>
        </p:nvSpPr>
        <p:spPr>
          <a:xfrm rot="0">
            <a:off x="5223570" y="180975"/>
            <a:ext cx="7840861" cy="1533525"/>
          </a:xfrm>
          <a:prstGeom prst="rect">
            <a:avLst/>
          </a:prstGeom>
        </p:spPr>
        <p:txBody>
          <a:bodyPr anchor="t" rtlCol="false" tIns="0" lIns="0" bIns="0" rIns="0">
            <a:spAutoFit/>
          </a:bodyPr>
          <a:lstStyle/>
          <a:p>
            <a:pPr algn="ctr">
              <a:lnSpc>
                <a:spcPts val="12599"/>
              </a:lnSpc>
            </a:pPr>
            <a:r>
              <a:rPr lang="en-US" sz="9000">
                <a:solidFill>
                  <a:srgbClr val="000000"/>
                </a:solidFill>
                <a:latin typeface="Open Sans Extra Bold"/>
              </a:rPr>
              <a:t>Équipe projet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234" t="0" r="1234" b="0"/>
          <a:stretch>
            <a:fillRect/>
          </a:stretch>
        </p:blipFill>
        <p:spPr>
          <a:xfrm>
            <a:off x="0" y="0"/>
            <a:ext cx="18288000" cy="102870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48151" y="613948"/>
            <a:ext cx="9732227" cy="9059105"/>
            <a:chOff x="0" y="0"/>
            <a:chExt cx="12976302" cy="12078806"/>
          </a:xfrm>
        </p:grpSpPr>
        <p:pic>
          <p:nvPicPr>
            <p:cNvPr name="Picture 3" id="3"/>
            <p:cNvPicPr>
              <a:picLocks noChangeAspect="true"/>
            </p:cNvPicPr>
            <p:nvPr/>
          </p:nvPicPr>
          <p:blipFill>
            <a:blip r:embed="rId2"/>
            <a:srcRect l="25131" t="0" r="25131" b="0"/>
            <a:stretch>
              <a:fillRect/>
            </a:stretch>
          </p:blipFill>
          <p:spPr>
            <a:xfrm>
              <a:off x="0" y="0"/>
              <a:ext cx="12976302" cy="12078806"/>
            </a:xfrm>
            <a:prstGeom prst="rect">
              <a:avLst/>
            </a:prstGeom>
          </p:spPr>
        </p:pic>
      </p:grpSp>
      <p:sp>
        <p:nvSpPr>
          <p:cNvPr name="TextBox 4" id="4"/>
          <p:cNvSpPr txBox="true"/>
          <p:nvPr/>
        </p:nvSpPr>
        <p:spPr>
          <a:xfrm rot="0">
            <a:off x="2194202" y="5955916"/>
            <a:ext cx="7353949" cy="2295525"/>
          </a:xfrm>
          <a:prstGeom prst="rect">
            <a:avLst/>
          </a:prstGeom>
        </p:spPr>
        <p:txBody>
          <a:bodyPr anchor="t" rtlCol="false" tIns="0" lIns="0" bIns="0" rIns="0">
            <a:spAutoFit/>
          </a:bodyPr>
          <a:lstStyle/>
          <a:p>
            <a:pPr>
              <a:lnSpc>
                <a:spcPts val="9123"/>
              </a:lnSpc>
            </a:pPr>
            <a:r>
              <a:rPr lang="en-US" sz="7602">
                <a:solidFill>
                  <a:srgbClr val="000000"/>
                </a:solidFill>
                <a:latin typeface="Open Sauce Bold"/>
              </a:rPr>
              <a:t>Présentation d'OPERA+</a:t>
            </a:r>
          </a:p>
        </p:txBody>
      </p:sp>
      <p:grpSp>
        <p:nvGrpSpPr>
          <p:cNvPr name="Group 5" id="5"/>
          <p:cNvGrpSpPr/>
          <p:nvPr/>
        </p:nvGrpSpPr>
        <p:grpSpPr>
          <a:xfrm rot="0">
            <a:off x="2194202" y="2184646"/>
            <a:ext cx="1239263" cy="1231643"/>
            <a:chOff x="0" y="0"/>
            <a:chExt cx="6350000" cy="6350000"/>
          </a:xfrm>
        </p:grpSpPr>
        <p:sp>
          <p:nvSpPr>
            <p:cNvPr name="Freeform 6" id="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7" id="7"/>
          <p:cNvSpPr txBox="true"/>
          <p:nvPr/>
        </p:nvSpPr>
        <p:spPr>
          <a:xfrm rot="0">
            <a:off x="2194202" y="2088823"/>
            <a:ext cx="1239263" cy="1194689"/>
          </a:xfrm>
          <a:prstGeom prst="rect">
            <a:avLst/>
          </a:prstGeom>
        </p:spPr>
        <p:txBody>
          <a:bodyPr anchor="t" rtlCol="false" tIns="0" lIns="0" bIns="0" rIns="0">
            <a:spAutoFit/>
          </a:bodyPr>
          <a:lstStyle/>
          <a:p>
            <a:pPr algn="ctr">
              <a:lnSpc>
                <a:spcPts val="10047"/>
              </a:lnSpc>
            </a:pPr>
            <a:r>
              <a:rPr lang="en-US" sz="6399">
                <a:solidFill>
                  <a:srgbClr val="000000"/>
                </a:solidFill>
                <a:latin typeface="Open Sauce Bold"/>
              </a:rPr>
              <a:t>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00317" y="1028700"/>
            <a:ext cx="5267530" cy="8562718"/>
            <a:chOff x="0" y="0"/>
            <a:chExt cx="7023373" cy="11416957"/>
          </a:xfrm>
        </p:grpSpPr>
        <p:pic>
          <p:nvPicPr>
            <p:cNvPr name="Picture 3" id="3"/>
            <p:cNvPicPr>
              <a:picLocks noChangeAspect="true"/>
            </p:cNvPicPr>
            <p:nvPr/>
          </p:nvPicPr>
          <p:blipFill>
            <a:blip r:embed="rId2"/>
            <a:srcRect l="0" t="10565" r="0" b="10565"/>
            <a:stretch>
              <a:fillRect/>
            </a:stretch>
          </p:blipFill>
          <p:spPr>
            <a:xfrm>
              <a:off x="0" y="0"/>
              <a:ext cx="7023373" cy="11416957"/>
            </a:xfrm>
            <a:prstGeom prst="rect">
              <a:avLst/>
            </a:prstGeom>
          </p:spPr>
        </p:pic>
      </p:grpSp>
      <p:grpSp>
        <p:nvGrpSpPr>
          <p:cNvPr name="Group 4" id="4"/>
          <p:cNvGrpSpPr/>
          <p:nvPr/>
        </p:nvGrpSpPr>
        <p:grpSpPr>
          <a:xfrm rot="0">
            <a:off x="1884834" y="1870270"/>
            <a:ext cx="6386353" cy="6546460"/>
            <a:chOff x="0" y="0"/>
            <a:chExt cx="5907123" cy="6055216"/>
          </a:xfrm>
        </p:grpSpPr>
        <p:sp>
          <p:nvSpPr>
            <p:cNvPr name="Freeform 5" id="5"/>
            <p:cNvSpPr/>
            <p:nvPr/>
          </p:nvSpPr>
          <p:spPr>
            <a:xfrm>
              <a:off x="0" y="0"/>
              <a:ext cx="5907123" cy="6055216"/>
            </a:xfrm>
            <a:custGeom>
              <a:avLst/>
              <a:gdLst/>
              <a:ahLst/>
              <a:cxnLst/>
              <a:rect r="r" b="b" t="t" l="l"/>
              <a:pathLst>
                <a:path h="6055216" w="5907123">
                  <a:moveTo>
                    <a:pt x="5782663" y="6055216"/>
                  </a:moveTo>
                  <a:lnTo>
                    <a:pt x="124460" y="6055216"/>
                  </a:lnTo>
                  <a:cubicBezTo>
                    <a:pt x="55880" y="6055216"/>
                    <a:pt x="0" y="5999335"/>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38B6FF"/>
            </a:solidFill>
          </p:spPr>
        </p:sp>
      </p:grpSp>
      <p:sp>
        <p:nvSpPr>
          <p:cNvPr name="TextBox 6" id="6"/>
          <p:cNvSpPr txBox="true"/>
          <p:nvPr/>
        </p:nvSpPr>
        <p:spPr>
          <a:xfrm rot="0">
            <a:off x="2798952" y="2459064"/>
            <a:ext cx="4558115" cy="1066800"/>
          </a:xfrm>
          <a:prstGeom prst="rect">
            <a:avLst/>
          </a:prstGeom>
        </p:spPr>
        <p:txBody>
          <a:bodyPr anchor="t" rtlCol="false" tIns="0" lIns="0" bIns="0" rIns="0">
            <a:spAutoFit/>
          </a:bodyPr>
          <a:lstStyle/>
          <a:p>
            <a:pPr algn="l" marL="0" indent="0" lvl="0">
              <a:lnSpc>
                <a:spcPts val="8250"/>
              </a:lnSpc>
              <a:spcBef>
                <a:spcPct val="0"/>
              </a:spcBef>
            </a:pPr>
            <a:r>
              <a:rPr lang="en-US" sz="7500">
                <a:solidFill>
                  <a:srgbClr val="000000"/>
                </a:solidFill>
                <a:latin typeface="Open Sauce Bold"/>
              </a:rPr>
              <a:t>OPÉRA+</a:t>
            </a:r>
          </a:p>
        </p:txBody>
      </p:sp>
      <p:sp>
        <p:nvSpPr>
          <p:cNvPr name="TextBox 7" id="7"/>
          <p:cNvSpPr txBox="true"/>
          <p:nvPr/>
        </p:nvSpPr>
        <p:spPr>
          <a:xfrm rot="0">
            <a:off x="2798952" y="3927932"/>
            <a:ext cx="4558115" cy="3909695"/>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000000"/>
                </a:solidFill>
                <a:latin typeface="Open Sauce Bold"/>
              </a:rPr>
              <a:t>solution informatique dédiée à la planification, le suivi et l'évaluation de la mise la mise en œuvre des plans d'actions.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4276" y="514350"/>
            <a:ext cx="11781072" cy="9258300"/>
            <a:chOff x="0" y="0"/>
            <a:chExt cx="15708097" cy="12344400"/>
          </a:xfrm>
        </p:grpSpPr>
        <p:pic>
          <p:nvPicPr>
            <p:cNvPr name="Picture 3" id="3"/>
            <p:cNvPicPr>
              <a:picLocks noChangeAspect="true"/>
            </p:cNvPicPr>
            <p:nvPr/>
          </p:nvPicPr>
          <p:blipFill>
            <a:blip r:embed="rId2"/>
            <a:srcRect l="11709" t="0" r="11709" b="0"/>
            <a:stretch>
              <a:fillRect/>
            </a:stretch>
          </p:blipFill>
          <p:spPr>
            <a:xfrm>
              <a:off x="0" y="0"/>
              <a:ext cx="15708097" cy="12344400"/>
            </a:xfrm>
            <a:prstGeom prst="rect">
              <a:avLst/>
            </a:prstGeom>
          </p:spPr>
        </p:pic>
      </p:grpSp>
      <p:grpSp>
        <p:nvGrpSpPr>
          <p:cNvPr name="Group 4" id="4"/>
          <p:cNvGrpSpPr/>
          <p:nvPr/>
        </p:nvGrpSpPr>
        <p:grpSpPr>
          <a:xfrm rot="0">
            <a:off x="463053" y="1870270"/>
            <a:ext cx="5015175" cy="6546460"/>
            <a:chOff x="0" y="0"/>
            <a:chExt cx="4638838" cy="6055216"/>
          </a:xfrm>
        </p:grpSpPr>
        <p:sp>
          <p:nvSpPr>
            <p:cNvPr name="Freeform 5" id="5"/>
            <p:cNvSpPr/>
            <p:nvPr/>
          </p:nvSpPr>
          <p:spPr>
            <a:xfrm>
              <a:off x="0" y="0"/>
              <a:ext cx="4638838" cy="6055216"/>
            </a:xfrm>
            <a:custGeom>
              <a:avLst/>
              <a:gdLst/>
              <a:ahLst/>
              <a:cxnLst/>
              <a:rect r="r" b="b" t="t" l="l"/>
              <a:pathLst>
                <a:path h="6055216" w="4638838">
                  <a:moveTo>
                    <a:pt x="4514378" y="6055216"/>
                  </a:moveTo>
                  <a:lnTo>
                    <a:pt x="124460" y="6055216"/>
                  </a:lnTo>
                  <a:cubicBezTo>
                    <a:pt x="55880" y="6055216"/>
                    <a:pt x="0" y="5999335"/>
                    <a:pt x="0" y="5930755"/>
                  </a:cubicBezTo>
                  <a:lnTo>
                    <a:pt x="0" y="124460"/>
                  </a:lnTo>
                  <a:cubicBezTo>
                    <a:pt x="0" y="55880"/>
                    <a:pt x="55880" y="0"/>
                    <a:pt x="124460" y="0"/>
                  </a:cubicBezTo>
                  <a:lnTo>
                    <a:pt x="4514378" y="0"/>
                  </a:lnTo>
                  <a:cubicBezTo>
                    <a:pt x="4582958" y="0"/>
                    <a:pt x="4638838" y="55880"/>
                    <a:pt x="4638838" y="124460"/>
                  </a:cubicBezTo>
                  <a:lnTo>
                    <a:pt x="4638838" y="5930756"/>
                  </a:lnTo>
                  <a:cubicBezTo>
                    <a:pt x="4638838" y="5999336"/>
                    <a:pt x="4582958" y="6055216"/>
                    <a:pt x="4514378" y="6055216"/>
                  </a:cubicBezTo>
                  <a:close/>
                </a:path>
              </a:pathLst>
            </a:custGeom>
            <a:solidFill>
              <a:srgbClr val="FFFFFF"/>
            </a:solidFill>
          </p:spPr>
        </p:sp>
      </p:grpSp>
      <p:sp>
        <p:nvSpPr>
          <p:cNvPr name="TextBox 6" id="6"/>
          <p:cNvSpPr txBox="true"/>
          <p:nvPr/>
        </p:nvSpPr>
        <p:spPr>
          <a:xfrm rot="0">
            <a:off x="463053" y="1562903"/>
            <a:ext cx="4558115" cy="5570952"/>
          </a:xfrm>
          <a:prstGeom prst="rect">
            <a:avLst/>
          </a:prstGeom>
        </p:spPr>
        <p:txBody>
          <a:bodyPr anchor="t" rtlCol="false" tIns="0" lIns="0" bIns="0" rIns="0">
            <a:spAutoFit/>
          </a:bodyPr>
          <a:lstStyle/>
          <a:p>
            <a:pPr>
              <a:lnSpc>
                <a:spcPts val="4023"/>
              </a:lnSpc>
            </a:pPr>
            <a:r>
              <a:rPr lang="en-US" sz="3657">
                <a:solidFill>
                  <a:srgbClr val="000000"/>
                </a:solidFill>
                <a:latin typeface="Open Sauce Bold"/>
              </a:rPr>
              <a:t>OBJECTIF :</a:t>
            </a:r>
          </a:p>
          <a:p>
            <a:pPr>
              <a:lnSpc>
                <a:spcPts val="4023"/>
              </a:lnSpc>
            </a:pPr>
          </a:p>
          <a:p>
            <a:pPr>
              <a:lnSpc>
                <a:spcPts val="4023"/>
              </a:lnSpc>
            </a:pPr>
          </a:p>
          <a:p>
            <a:pPr algn="l" marL="0" indent="0" lvl="0">
              <a:lnSpc>
                <a:spcPts val="4023"/>
              </a:lnSpc>
              <a:spcBef>
                <a:spcPct val="0"/>
              </a:spcBef>
            </a:pPr>
            <a:r>
              <a:rPr lang="en-US" sz="3657">
                <a:solidFill>
                  <a:srgbClr val="000000"/>
                </a:solidFill>
                <a:latin typeface="Open Sauce Bold"/>
              </a:rPr>
              <a:t>OPERA+ est un outils de suivi qui permet d'atteindre les objectifs d'amélioration continue selon le principe de la roue de Deming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496" r="0" b="496"/>
          <a:stretch>
            <a:fillRect/>
          </a:stretch>
        </p:blipFill>
        <p:spPr>
          <a:xfrm>
            <a:off x="0" y="0"/>
            <a:ext cx="18288000" cy="102870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234" t="0" r="1234" b="0"/>
          <a:stretch>
            <a:fillRect/>
          </a:stretch>
        </p:blipFill>
        <p:spPr>
          <a:xfrm>
            <a:off x="0" y="0"/>
            <a:ext cx="18288000" cy="102870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430289"/>
            <a:ext cx="16230600" cy="679450"/>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000000"/>
                </a:solidFill>
                <a:latin typeface="Open Sauce Bold"/>
              </a:rPr>
              <a:t>Opéra+ est adaptable à n'importe quel cadre logique </a:t>
            </a:r>
          </a:p>
        </p:txBody>
      </p:sp>
      <p:sp>
        <p:nvSpPr>
          <p:cNvPr name="TextBox 3" id="3"/>
          <p:cNvSpPr txBox="true"/>
          <p:nvPr/>
        </p:nvSpPr>
        <p:spPr>
          <a:xfrm rot="0">
            <a:off x="1028700" y="3834765"/>
            <a:ext cx="16230600" cy="2703195"/>
          </a:xfrm>
          <a:prstGeom prst="rect">
            <a:avLst/>
          </a:prstGeom>
        </p:spPr>
        <p:txBody>
          <a:bodyPr anchor="t" rtlCol="false" tIns="0" lIns="0" bIns="0" rIns="0">
            <a:spAutoFit/>
          </a:bodyPr>
          <a:lstStyle/>
          <a:p>
            <a:pPr algn="ctr" marL="0" indent="0" lvl="0">
              <a:lnSpc>
                <a:spcPts val="10560"/>
              </a:lnSpc>
            </a:pPr>
            <a:r>
              <a:rPr lang="en-US" sz="9600">
                <a:solidFill>
                  <a:srgbClr val="000000"/>
                </a:solidFill>
                <a:latin typeface="Open Sauce Bold"/>
              </a:rPr>
              <a:t>Quelques applications de la solution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727210" y="2695575"/>
            <a:ext cx="6560790" cy="1228725"/>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000000"/>
                </a:solidFill>
                <a:latin typeface="Open Sauce Bold"/>
              </a:rPr>
              <a:t> FECAFOOT</a:t>
            </a:r>
          </a:p>
        </p:txBody>
      </p:sp>
      <p:grpSp>
        <p:nvGrpSpPr>
          <p:cNvPr name="Group 3" id="3"/>
          <p:cNvGrpSpPr/>
          <p:nvPr/>
        </p:nvGrpSpPr>
        <p:grpSpPr>
          <a:xfrm rot="0">
            <a:off x="0" y="0"/>
            <a:ext cx="5834101" cy="10287000"/>
            <a:chOff x="0" y="0"/>
            <a:chExt cx="7778802" cy="13716000"/>
          </a:xfrm>
        </p:grpSpPr>
        <p:pic>
          <p:nvPicPr>
            <p:cNvPr name="Picture 4" id="4"/>
            <p:cNvPicPr>
              <a:picLocks noChangeAspect="true"/>
            </p:cNvPicPr>
            <p:nvPr/>
          </p:nvPicPr>
          <p:blipFill>
            <a:blip r:embed="rId2"/>
            <a:srcRect l="0" t="11294" r="0" b="11294"/>
            <a:stretch>
              <a:fillRect/>
            </a:stretch>
          </p:blipFill>
          <p:spPr>
            <a:xfrm>
              <a:off x="0" y="0"/>
              <a:ext cx="7778802" cy="13716000"/>
            </a:xfrm>
            <a:prstGeom prst="rect">
              <a:avLst/>
            </a:prstGeom>
          </p:spPr>
        </p:pic>
      </p:grpSp>
      <p:grpSp>
        <p:nvGrpSpPr>
          <p:cNvPr name="Group 5" id="5"/>
          <p:cNvGrpSpPr/>
          <p:nvPr/>
        </p:nvGrpSpPr>
        <p:grpSpPr>
          <a:xfrm rot="0">
            <a:off x="5834101" y="0"/>
            <a:ext cx="5802046" cy="10287000"/>
            <a:chOff x="0" y="0"/>
            <a:chExt cx="7736061" cy="13716000"/>
          </a:xfrm>
        </p:grpSpPr>
        <p:pic>
          <p:nvPicPr>
            <p:cNvPr name="Picture 6" id="6"/>
            <p:cNvPicPr>
              <a:picLocks noChangeAspect="true"/>
            </p:cNvPicPr>
            <p:nvPr/>
          </p:nvPicPr>
          <p:blipFill>
            <a:blip r:embed="rId3"/>
            <a:srcRect l="0" t="6223" r="0" b="6223"/>
            <a:stretch>
              <a:fillRect/>
            </a:stretch>
          </p:blipFill>
          <p:spPr>
            <a:xfrm>
              <a:off x="0" y="0"/>
              <a:ext cx="7736061" cy="13716000"/>
            </a:xfrm>
            <a:prstGeom prst="rect">
              <a:avLst/>
            </a:prstGeom>
          </p:spPr>
        </p:pic>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691301" y="2295818"/>
            <a:ext cx="6596699" cy="1019175"/>
          </a:xfrm>
          <a:prstGeom prst="rect">
            <a:avLst/>
          </a:prstGeom>
        </p:spPr>
        <p:txBody>
          <a:bodyPr anchor="t" rtlCol="false" tIns="0" lIns="0" bIns="0" rIns="0">
            <a:spAutoFit/>
          </a:bodyPr>
          <a:lstStyle/>
          <a:p>
            <a:pPr algn="l" marL="0" indent="0" lvl="0">
              <a:lnSpc>
                <a:spcPts val="8160"/>
              </a:lnSpc>
              <a:spcBef>
                <a:spcPct val="0"/>
              </a:spcBef>
            </a:pPr>
            <a:r>
              <a:rPr lang="en-US" sz="6800">
                <a:solidFill>
                  <a:srgbClr val="000000"/>
                </a:solidFill>
                <a:latin typeface="Open Sauce"/>
              </a:rPr>
              <a:t>CTN-PBF</a:t>
            </a:r>
          </a:p>
        </p:txBody>
      </p:sp>
      <p:grpSp>
        <p:nvGrpSpPr>
          <p:cNvPr name="Group 3" id="3"/>
          <p:cNvGrpSpPr/>
          <p:nvPr/>
        </p:nvGrpSpPr>
        <p:grpSpPr>
          <a:xfrm rot="0">
            <a:off x="0" y="354051"/>
            <a:ext cx="5364673" cy="9578898"/>
            <a:chOff x="0" y="0"/>
            <a:chExt cx="7152898" cy="12771863"/>
          </a:xfrm>
        </p:grpSpPr>
        <p:pic>
          <p:nvPicPr>
            <p:cNvPr name="Picture 4" id="4"/>
            <p:cNvPicPr>
              <a:picLocks noChangeAspect="true"/>
            </p:cNvPicPr>
            <p:nvPr/>
          </p:nvPicPr>
          <p:blipFill>
            <a:blip r:embed="rId2"/>
            <a:srcRect l="0" t="6479" r="0" b="6479"/>
            <a:stretch>
              <a:fillRect/>
            </a:stretch>
          </p:blipFill>
          <p:spPr>
            <a:xfrm>
              <a:off x="0" y="0"/>
              <a:ext cx="7152898" cy="12771863"/>
            </a:xfrm>
            <a:prstGeom prst="rect">
              <a:avLst/>
            </a:prstGeom>
          </p:spPr>
        </p:pic>
      </p:grpSp>
      <p:grpSp>
        <p:nvGrpSpPr>
          <p:cNvPr name="Group 5" id="5"/>
          <p:cNvGrpSpPr/>
          <p:nvPr/>
        </p:nvGrpSpPr>
        <p:grpSpPr>
          <a:xfrm rot="0">
            <a:off x="5297928" y="354051"/>
            <a:ext cx="5364673" cy="9578898"/>
            <a:chOff x="0" y="0"/>
            <a:chExt cx="7152898" cy="12771863"/>
          </a:xfrm>
        </p:grpSpPr>
        <p:pic>
          <p:nvPicPr>
            <p:cNvPr name="Picture 6" id="6"/>
            <p:cNvPicPr>
              <a:picLocks noChangeAspect="true"/>
            </p:cNvPicPr>
            <p:nvPr/>
          </p:nvPicPr>
          <p:blipFill>
            <a:blip r:embed="rId3"/>
            <a:srcRect l="0" t="5942" r="0" b="5942"/>
            <a:stretch>
              <a:fillRect/>
            </a:stretch>
          </p:blipFill>
          <p:spPr>
            <a:xfrm>
              <a:off x="0" y="0"/>
              <a:ext cx="7152898" cy="12771863"/>
            </a:xfrm>
            <a:prstGeom prst="rect">
              <a:avLst/>
            </a:prstGeom>
          </p:spPr>
        </p:pic>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62601" y="2044916"/>
            <a:ext cx="5532090" cy="5133975"/>
          </a:xfrm>
          <a:prstGeom prst="rect">
            <a:avLst/>
          </a:prstGeom>
        </p:spPr>
        <p:txBody>
          <a:bodyPr anchor="t" rtlCol="false" tIns="0" lIns="0" bIns="0" rIns="0">
            <a:spAutoFit/>
          </a:bodyPr>
          <a:lstStyle/>
          <a:p>
            <a:pPr algn="l" marL="0" indent="0" lvl="0">
              <a:lnSpc>
                <a:spcPts val="8160"/>
              </a:lnSpc>
              <a:spcBef>
                <a:spcPct val="0"/>
              </a:spcBef>
            </a:pPr>
            <a:r>
              <a:rPr lang="en-US" sz="6800">
                <a:solidFill>
                  <a:srgbClr val="000000"/>
                </a:solidFill>
                <a:latin typeface="Open Sauce Bold"/>
              </a:rPr>
              <a:t>projet académique : collège la conquête Douala </a:t>
            </a:r>
          </a:p>
        </p:txBody>
      </p:sp>
      <p:grpSp>
        <p:nvGrpSpPr>
          <p:cNvPr name="Group 3" id="3"/>
          <p:cNvGrpSpPr/>
          <p:nvPr/>
        </p:nvGrpSpPr>
        <p:grpSpPr>
          <a:xfrm rot="0">
            <a:off x="0" y="-195146"/>
            <a:ext cx="4448008" cy="10482146"/>
            <a:chOff x="0" y="0"/>
            <a:chExt cx="5930677" cy="13976195"/>
          </a:xfrm>
        </p:grpSpPr>
        <p:pic>
          <p:nvPicPr>
            <p:cNvPr name="Picture 4" id="4"/>
            <p:cNvPicPr>
              <a:picLocks noChangeAspect="true"/>
            </p:cNvPicPr>
            <p:nvPr/>
          </p:nvPicPr>
          <p:blipFill>
            <a:blip r:embed="rId2"/>
            <a:srcRect l="1672" t="0" r="1672" b="0"/>
            <a:stretch>
              <a:fillRect/>
            </a:stretch>
          </p:blipFill>
          <p:spPr>
            <a:xfrm>
              <a:off x="0" y="0"/>
              <a:ext cx="5930677" cy="13976195"/>
            </a:xfrm>
            <a:prstGeom prst="rect">
              <a:avLst/>
            </a:prstGeom>
          </p:spPr>
        </p:pic>
      </p:grpSp>
      <p:grpSp>
        <p:nvGrpSpPr>
          <p:cNvPr name="Group 5" id="5"/>
          <p:cNvGrpSpPr/>
          <p:nvPr/>
        </p:nvGrpSpPr>
        <p:grpSpPr>
          <a:xfrm rot="0">
            <a:off x="2224004" y="-390293"/>
            <a:ext cx="4627799" cy="10677293"/>
            <a:chOff x="0" y="0"/>
            <a:chExt cx="6170398" cy="14236390"/>
          </a:xfrm>
        </p:grpSpPr>
        <p:pic>
          <p:nvPicPr>
            <p:cNvPr name="Picture 6" id="6"/>
            <p:cNvPicPr>
              <a:picLocks noChangeAspect="true"/>
            </p:cNvPicPr>
            <p:nvPr/>
          </p:nvPicPr>
          <p:blipFill>
            <a:blip r:embed="rId3"/>
            <a:srcRect l="637" t="0" r="637" b="0"/>
            <a:stretch>
              <a:fillRect/>
            </a:stretch>
          </p:blipFill>
          <p:spPr>
            <a:xfrm>
              <a:off x="0" y="0"/>
              <a:ext cx="6170398" cy="14236390"/>
            </a:xfrm>
            <a:prstGeom prst="rect">
              <a:avLst/>
            </a:prstGeom>
          </p:spPr>
        </p:pic>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49581" y="2184646"/>
            <a:ext cx="5009719" cy="6495681"/>
            <a:chOff x="0" y="0"/>
            <a:chExt cx="6679625" cy="8660908"/>
          </a:xfrm>
        </p:grpSpPr>
        <p:pic>
          <p:nvPicPr>
            <p:cNvPr name="Picture 3" id="3"/>
            <p:cNvPicPr>
              <a:picLocks noChangeAspect="true"/>
            </p:cNvPicPr>
            <p:nvPr/>
          </p:nvPicPr>
          <p:blipFill>
            <a:blip r:embed="rId2"/>
            <a:srcRect l="0" t="82" r="0" b="82"/>
            <a:stretch>
              <a:fillRect/>
            </a:stretch>
          </p:blipFill>
          <p:spPr>
            <a:xfrm>
              <a:off x="0" y="0"/>
              <a:ext cx="6679625" cy="8660908"/>
            </a:xfrm>
            <a:prstGeom prst="rect">
              <a:avLst/>
            </a:prstGeom>
          </p:spPr>
        </p:pic>
      </p:grpSp>
      <p:sp>
        <p:nvSpPr>
          <p:cNvPr name="TextBox 4" id="4"/>
          <p:cNvSpPr txBox="true"/>
          <p:nvPr/>
        </p:nvSpPr>
        <p:spPr>
          <a:xfrm rot="0">
            <a:off x="56544" y="5153025"/>
            <a:ext cx="11688177" cy="1143000"/>
          </a:xfrm>
          <a:prstGeom prst="rect">
            <a:avLst/>
          </a:prstGeom>
        </p:spPr>
        <p:txBody>
          <a:bodyPr anchor="t" rtlCol="false" tIns="0" lIns="0" bIns="0" rIns="0">
            <a:spAutoFit/>
          </a:bodyPr>
          <a:lstStyle/>
          <a:p>
            <a:pPr>
              <a:lnSpc>
                <a:spcPts val="9123"/>
              </a:lnSpc>
            </a:pPr>
            <a:r>
              <a:rPr lang="en-US" sz="7602">
                <a:solidFill>
                  <a:srgbClr val="000000"/>
                </a:solidFill>
                <a:latin typeface="Open Sauce Bold"/>
              </a:rPr>
              <a:t>QUESTIONS/RÉPONSES</a:t>
            </a:r>
          </a:p>
        </p:txBody>
      </p:sp>
      <p:grpSp>
        <p:nvGrpSpPr>
          <p:cNvPr name="Group 5" id="5"/>
          <p:cNvGrpSpPr/>
          <p:nvPr/>
        </p:nvGrpSpPr>
        <p:grpSpPr>
          <a:xfrm rot="0">
            <a:off x="2194202" y="2184646"/>
            <a:ext cx="1239263" cy="1231643"/>
            <a:chOff x="0" y="0"/>
            <a:chExt cx="6350000" cy="6350000"/>
          </a:xfrm>
        </p:grpSpPr>
        <p:sp>
          <p:nvSpPr>
            <p:cNvPr name="Freeform 6" id="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8B6FF"/>
            </a:solidFill>
          </p:spPr>
        </p:sp>
      </p:grpSp>
      <p:sp>
        <p:nvSpPr>
          <p:cNvPr name="TextBox 7" id="7"/>
          <p:cNvSpPr txBox="true"/>
          <p:nvPr/>
        </p:nvSpPr>
        <p:spPr>
          <a:xfrm rot="0">
            <a:off x="2194202" y="2088823"/>
            <a:ext cx="1239263" cy="1194689"/>
          </a:xfrm>
          <a:prstGeom prst="rect">
            <a:avLst/>
          </a:prstGeom>
        </p:spPr>
        <p:txBody>
          <a:bodyPr anchor="t" rtlCol="false" tIns="0" lIns="0" bIns="0" rIns="0">
            <a:spAutoFit/>
          </a:bodyPr>
          <a:lstStyle/>
          <a:p>
            <a:pPr algn="ctr">
              <a:lnSpc>
                <a:spcPts val="10047"/>
              </a:lnSpc>
            </a:pPr>
            <a:r>
              <a:rPr lang="en-US" sz="6399">
                <a:solidFill>
                  <a:srgbClr val="000000"/>
                </a:solidFill>
                <a:latin typeface="Open Sauce"/>
              </a:rPr>
              <a:t>3</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71525" y="2983865"/>
            <a:ext cx="16744950" cy="3756025"/>
          </a:xfrm>
          <a:prstGeom prst="rect">
            <a:avLst/>
          </a:prstGeom>
        </p:spPr>
        <p:txBody>
          <a:bodyPr anchor="t" rtlCol="false" tIns="0" lIns="0" bIns="0" rIns="0">
            <a:spAutoFit/>
          </a:bodyPr>
          <a:lstStyle/>
          <a:p>
            <a:pPr algn="ctr" marL="0" indent="0" lvl="0">
              <a:lnSpc>
                <a:spcPts val="30799"/>
              </a:lnSpc>
              <a:spcBef>
                <a:spcPct val="0"/>
              </a:spcBef>
            </a:pPr>
            <a:r>
              <a:rPr lang="en-US" sz="21999" u="none">
                <a:solidFill>
                  <a:srgbClr val="000000"/>
                </a:solidFill>
                <a:latin typeface="Open Sans Bold"/>
              </a:rPr>
              <a:t>Merci !</a:t>
            </a:r>
          </a:p>
        </p:txBody>
      </p:sp>
      <p:sp>
        <p:nvSpPr>
          <p:cNvPr name="TextBox 3" id="3"/>
          <p:cNvSpPr txBox="true"/>
          <p:nvPr/>
        </p:nvSpPr>
        <p:spPr>
          <a:xfrm rot="0">
            <a:off x="3449806" y="2079667"/>
            <a:ext cx="11388388" cy="565150"/>
          </a:xfrm>
          <a:prstGeom prst="rect">
            <a:avLst/>
          </a:prstGeom>
        </p:spPr>
        <p:txBody>
          <a:bodyPr anchor="t" rtlCol="false" tIns="0" lIns="0" bIns="0" rIns="0">
            <a:spAutoFit/>
          </a:bodyPr>
          <a:lstStyle/>
          <a:p>
            <a:pPr algn="ctr">
              <a:lnSpc>
                <a:spcPts val="4399"/>
              </a:lnSpc>
            </a:pPr>
            <a:r>
              <a:rPr lang="en-US" sz="3999">
                <a:solidFill>
                  <a:srgbClr val="000000"/>
                </a:solidFill>
                <a:latin typeface="Open Sans"/>
              </a:rPr>
              <a:t>équipe BEINFOS+</a:t>
            </a:r>
          </a:p>
        </p:txBody>
      </p:sp>
      <p:sp>
        <p:nvSpPr>
          <p:cNvPr name="TextBox 4" id="4"/>
          <p:cNvSpPr txBox="true"/>
          <p:nvPr/>
        </p:nvSpPr>
        <p:spPr>
          <a:xfrm rot="0">
            <a:off x="3449806" y="7740707"/>
            <a:ext cx="11388388" cy="565150"/>
          </a:xfrm>
          <a:prstGeom prst="rect">
            <a:avLst/>
          </a:prstGeom>
        </p:spPr>
        <p:txBody>
          <a:bodyPr anchor="t" rtlCol="false" tIns="0" lIns="0" bIns="0" rIns="0">
            <a:spAutoFit/>
          </a:bodyPr>
          <a:lstStyle/>
          <a:p>
            <a:pPr algn="ctr" marL="0" indent="0" lvl="0">
              <a:lnSpc>
                <a:spcPts val="4399"/>
              </a:lnSpc>
              <a:spcBef>
                <a:spcPct val="0"/>
              </a:spcBef>
            </a:pPr>
            <a:r>
              <a:rPr lang="en-US" sz="3999">
                <a:solidFill>
                  <a:srgbClr val="FAA60D"/>
                </a:solidFill>
                <a:latin typeface="Open Sans"/>
              </a:rPr>
              <a:t>contact@beininfoplus.com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DAFEU6wNw20</dc:identifier>
  <dcterms:modified xsi:type="dcterms:W3CDTF">2011-08-01T06:04:30Z</dcterms:modified>
  <cp:revision>1</cp:revision>
  <dc:title>Noir Blanc et Orange Simple et Professionnel Diversité Atelier Webinaire Conférence Diaporama</dc:title>
</cp:coreProperties>
</file>