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1.xml" ContentType="application/vnd.openxmlformats-officedocument.drawingml.chartshape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88" r:id="rId5"/>
    <p:sldId id="289" r:id="rId6"/>
    <p:sldId id="290" r:id="rId7"/>
    <p:sldId id="294" r:id="rId8"/>
    <p:sldId id="291" r:id="rId9"/>
    <p:sldId id="301" r:id="rId10"/>
    <p:sldId id="302" r:id="rId11"/>
    <p:sldId id="299" r:id="rId12"/>
    <p:sldId id="265" r:id="rId13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rele Yepndo" initials="CY" lastIdx="3" clrIdx="0">
    <p:extLst>
      <p:ext uri="{19B8F6BF-5375-455C-9EA6-DF929625EA0E}">
        <p15:presenceInfo xmlns:p15="http://schemas.microsoft.com/office/powerpoint/2012/main" userId="757347256d0b4f2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Style à thème 1 - Accentuation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Style léger 2 - Accentuation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Style léger 2 - Accentuation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78" autoAdjust="0"/>
    <p:restoredTop sz="94660"/>
  </p:normalViewPr>
  <p:slideViewPr>
    <p:cSldViewPr snapToGrid="0">
      <p:cViewPr varScale="1">
        <p:scale>
          <a:sx n="70" d="100"/>
          <a:sy n="70" d="100"/>
        </p:scale>
        <p:origin x="6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H:\MINSANTE\CTN%20CSU\stat%20CTN%20CSU(1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H:\MINSANTE\CTN%20CSU\stat%20CTN%20CSU(1).xlsx" TargetMode="Externa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H:\MINSANTE\CTN%20CSU\stat%20CTN%20CSU(1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H:\MINSANTE\CTN%20CSU\stat%20CTN%20CSU(1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32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u="sng" baseline="0">
                <a:solidFill>
                  <a:sysClr val="windowText" lastClr="000000"/>
                </a:solidFill>
                <a:effectLst/>
              </a:rPr>
              <a:t>Evolution des pré-enrôlements par semaine (31 juillet 2023 ) </a:t>
            </a:r>
            <a:endParaRPr lang="fr-FR" b="1">
              <a:solidFill>
                <a:sysClr val="windowText" lastClr="000000"/>
              </a:solidFill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2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>
        <c:manualLayout>
          <c:layoutTarget val="inner"/>
          <c:xMode val="edge"/>
          <c:yMode val="edge"/>
          <c:x val="8.4675941303670607E-2"/>
          <c:y val="0.12855175825534898"/>
          <c:w val="0.89443137426155872"/>
          <c:h val="0.7242115677948631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Global!$C$4</c:f>
              <c:strCache>
                <c:ptCount val="1"/>
                <c:pt idx="0">
                  <c:v>Pré-enrôlés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Global!$B$5:$B$20</c:f>
              <c:strCache>
                <c:ptCount val="16"/>
                <c:pt idx="0">
                  <c:v>Semaine du 25 Avril 2023</c:v>
                </c:pt>
                <c:pt idx="1">
                  <c:v>Semaine du 02 Mai 2023</c:v>
                </c:pt>
                <c:pt idx="2">
                  <c:v>Semaine du 09 Mai 2023</c:v>
                </c:pt>
                <c:pt idx="3">
                  <c:v>Semaine du16 Mai 2023</c:v>
                </c:pt>
                <c:pt idx="4">
                  <c:v>Semaine du 23 Mai 2023</c:v>
                </c:pt>
                <c:pt idx="5">
                  <c:v>Semaine du 30 Mai 2023</c:v>
                </c:pt>
                <c:pt idx="6">
                  <c:v>Semaine du 5 Juin 2023</c:v>
                </c:pt>
                <c:pt idx="7">
                  <c:v>Semaine du 12 Juin 2023</c:v>
                </c:pt>
                <c:pt idx="8">
                  <c:v>Semaine du 19 Juin 2023
</c:v>
                </c:pt>
                <c:pt idx="9">
                  <c:v>Semaine du 26 Juin 2023
</c:v>
                </c:pt>
                <c:pt idx="10">
                  <c:v>Semaine du 4 Juillet 2023
</c:v>
                </c:pt>
                <c:pt idx="11">
                  <c:v>Semaine du 10 Juillet 2023
</c:v>
                </c:pt>
                <c:pt idx="12">
                  <c:v>Semaine du 17 Juillet 2023
</c:v>
                </c:pt>
                <c:pt idx="13">
                  <c:v>Semaine du 24 Juillet 2023</c:v>
                </c:pt>
                <c:pt idx="14">
                  <c:v>Semaine du 31 Juillet 2024</c:v>
                </c:pt>
                <c:pt idx="15">
                  <c:v>Semaine du 07 Août 2024</c:v>
                </c:pt>
              </c:strCache>
            </c:strRef>
          </c:cat>
          <c:val>
            <c:numRef>
              <c:f>Global!$C$5:$C$20</c:f>
              <c:numCache>
                <c:formatCode>_-* #\ ##0_-;\-* #\ ##0_-;_-* "-"??_-;_-@_-</c:formatCode>
                <c:ptCount val="16"/>
                <c:pt idx="0">
                  <c:v>15207</c:v>
                </c:pt>
                <c:pt idx="1">
                  <c:v>16571</c:v>
                </c:pt>
                <c:pt idx="2">
                  <c:v>18580</c:v>
                </c:pt>
                <c:pt idx="3">
                  <c:v>34634</c:v>
                </c:pt>
                <c:pt idx="4">
                  <c:v>48324</c:v>
                </c:pt>
                <c:pt idx="5">
                  <c:v>67103</c:v>
                </c:pt>
                <c:pt idx="6">
                  <c:v>76678</c:v>
                </c:pt>
                <c:pt idx="7">
                  <c:v>108651</c:v>
                </c:pt>
                <c:pt idx="8">
                  <c:v>159107</c:v>
                </c:pt>
                <c:pt idx="9">
                  <c:v>196019</c:v>
                </c:pt>
                <c:pt idx="10">
                  <c:v>230786</c:v>
                </c:pt>
                <c:pt idx="11">
                  <c:v>284906</c:v>
                </c:pt>
                <c:pt idx="12">
                  <c:v>303197</c:v>
                </c:pt>
                <c:pt idx="13">
                  <c:v>371352</c:v>
                </c:pt>
                <c:pt idx="14">
                  <c:v>447134</c:v>
                </c:pt>
                <c:pt idx="15">
                  <c:v>475831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1077-4890-AB6A-509A3A7ACC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88010616"/>
        <c:axId val="788017672"/>
      </c:barChart>
      <c:catAx>
        <c:axId val="7880106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788017672"/>
        <c:crosses val="autoZero"/>
        <c:auto val="1"/>
        <c:lblAlgn val="ctr"/>
        <c:lblOffset val="100"/>
        <c:noMultiLvlLbl val="0"/>
      </c:catAx>
      <c:valAx>
        <c:axId val="788017672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fr-FR"/>
          </a:p>
        </c:txPr>
        <c:crossAx val="7880106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28575" cap="flat" cmpd="sng" algn="ctr">
      <a:solidFill>
        <a:schemeClr val="accent6">
          <a:lumMod val="50000"/>
        </a:schemeClr>
      </a:solidFill>
      <a:round/>
    </a:ln>
    <a:effectLst/>
  </c:spPr>
  <c:txPr>
    <a:bodyPr/>
    <a:lstStyle/>
    <a:p>
      <a:pPr>
        <a:defRPr sz="1100" b="1"/>
      </a:pPr>
      <a:endParaRPr lang="fr-F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sng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 sz="1800" b="1" u="sng">
                <a:solidFill>
                  <a:sysClr val="windowText" lastClr="000000"/>
                </a:solidFill>
              </a:rPr>
              <a:t>Evolution des</a:t>
            </a:r>
            <a:r>
              <a:rPr lang="en-US" sz="1800" b="1" u="sng" baseline="0">
                <a:solidFill>
                  <a:sysClr val="windowText" lastClr="000000"/>
                </a:solidFill>
              </a:rPr>
              <a:t> </a:t>
            </a:r>
            <a:r>
              <a:rPr lang="en-US" sz="1800" b="1" u="sng">
                <a:solidFill>
                  <a:sysClr val="windowText" lastClr="000000"/>
                </a:solidFill>
              </a:rPr>
              <a:t>Enrôlements par semaine </a:t>
            </a:r>
            <a:r>
              <a:rPr lang="en-US" sz="1800" b="1" i="0" u="sng" strike="noStrike" baseline="0">
                <a:effectLst/>
              </a:rPr>
              <a:t>(31 juillet 2023 ) </a:t>
            </a:r>
            <a:r>
              <a:rPr lang="en-US" sz="1800" b="1" u="sng">
                <a:solidFill>
                  <a:sysClr val="windowText" lastClr="000000"/>
                </a:solidFill>
              </a:rPr>
              <a:t>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sng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Global!$D$4</c:f>
              <c:strCache>
                <c:ptCount val="1"/>
                <c:pt idx="0">
                  <c:v>Enrôlés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D028-4D41-9D58-87349A1C715E}"/>
              </c:ext>
            </c:extLst>
          </c:dPt>
          <c:dPt>
            <c:idx val="3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D028-4D41-9D58-87349A1C715E}"/>
              </c:ext>
            </c:extLst>
          </c:dPt>
          <c:dPt>
            <c:idx val="4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D028-4D41-9D58-87349A1C715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Global!$B$5:$B$20</c:f>
              <c:strCache>
                <c:ptCount val="16"/>
                <c:pt idx="0">
                  <c:v>Semaine du 25 Avril 2023</c:v>
                </c:pt>
                <c:pt idx="1">
                  <c:v>Semaine du 02 Mai 2023</c:v>
                </c:pt>
                <c:pt idx="2">
                  <c:v>Semaine du 09 Mai 2023</c:v>
                </c:pt>
                <c:pt idx="3">
                  <c:v>Semaine du16 Mai 2023</c:v>
                </c:pt>
                <c:pt idx="4">
                  <c:v>Semaine du 23 Mai 2023</c:v>
                </c:pt>
                <c:pt idx="5">
                  <c:v>Semaine du 30 Mai 2023</c:v>
                </c:pt>
                <c:pt idx="6">
                  <c:v>Semaine du 5 Juin 2023</c:v>
                </c:pt>
                <c:pt idx="7">
                  <c:v>Semaine du 12 Juin 2023</c:v>
                </c:pt>
                <c:pt idx="8">
                  <c:v>Semaine du 19 Juin 2023
</c:v>
                </c:pt>
                <c:pt idx="9">
                  <c:v>Semaine du 26 Juin 2023
</c:v>
                </c:pt>
                <c:pt idx="10">
                  <c:v>Semaine du 4 Juillet 2023
</c:v>
                </c:pt>
                <c:pt idx="11">
                  <c:v>Semaine du 10 Juillet 2023
</c:v>
                </c:pt>
                <c:pt idx="12">
                  <c:v>Semaine du 17 Juillet 2023
</c:v>
                </c:pt>
                <c:pt idx="13">
                  <c:v>Semaine du 24 Juillet 2023</c:v>
                </c:pt>
                <c:pt idx="14">
                  <c:v>Semaine du 31 Juillet 2024</c:v>
                </c:pt>
                <c:pt idx="15">
                  <c:v>Semaine du 07 Août 2024</c:v>
                </c:pt>
              </c:strCache>
            </c:strRef>
          </c:cat>
          <c:val>
            <c:numRef>
              <c:f>Global!$D$5:$D$20</c:f>
              <c:numCache>
                <c:formatCode>_-* #\ ##0_-;\-* #\ ##0_-;_-* "-"??_-;_-@_-</c:formatCode>
                <c:ptCount val="16"/>
                <c:pt idx="0">
                  <c:v>285</c:v>
                </c:pt>
                <c:pt idx="1">
                  <c:v>294</c:v>
                </c:pt>
                <c:pt idx="2">
                  <c:v>409</c:v>
                </c:pt>
                <c:pt idx="3">
                  <c:v>418</c:v>
                </c:pt>
                <c:pt idx="4">
                  <c:v>422</c:v>
                </c:pt>
                <c:pt idx="5">
                  <c:v>907</c:v>
                </c:pt>
                <c:pt idx="6">
                  <c:v>1172</c:v>
                </c:pt>
                <c:pt idx="7">
                  <c:v>4157</c:v>
                </c:pt>
                <c:pt idx="8">
                  <c:v>17248</c:v>
                </c:pt>
                <c:pt idx="9">
                  <c:v>37047</c:v>
                </c:pt>
                <c:pt idx="10">
                  <c:v>47527</c:v>
                </c:pt>
                <c:pt idx="11">
                  <c:v>69692</c:v>
                </c:pt>
                <c:pt idx="12">
                  <c:v>83794</c:v>
                </c:pt>
                <c:pt idx="13">
                  <c:v>118638</c:v>
                </c:pt>
                <c:pt idx="14">
                  <c:v>152202</c:v>
                </c:pt>
                <c:pt idx="15">
                  <c:v>182123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6-D028-4D41-9D58-87349A1C71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88016496"/>
        <c:axId val="788011792"/>
      </c:barChart>
      <c:catAx>
        <c:axId val="7880164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788011792"/>
        <c:crosses val="autoZero"/>
        <c:auto val="1"/>
        <c:lblAlgn val="ctr"/>
        <c:lblOffset val="100"/>
        <c:noMultiLvlLbl val="0"/>
      </c:catAx>
      <c:valAx>
        <c:axId val="788011792"/>
        <c:scaling>
          <c:orientation val="minMax"/>
        </c:scaling>
        <c:delete val="0"/>
        <c:axPos val="l"/>
        <c:numFmt formatCode="_-* #\ ##0_-;\-* #\ ##0_-;_-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7880164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12700" cap="flat" cmpd="sng" algn="ctr">
      <a:noFill/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fr-FR"/>
    </a:p>
  </c:txPr>
  <c:externalData r:id="rId3">
    <c:autoUpdate val="0"/>
  </c:externalData>
  <c:userShapes r:id="rId4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u="sng" baseline="0">
                <a:effectLst/>
              </a:rPr>
              <a:t>Situation des pre-enrôlements par </a:t>
            </a:r>
            <a:r>
              <a:rPr lang="en-US" sz="1800" b="1" i="0" u="sng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effectLst/>
                <a:latin typeface="+mn-lt"/>
                <a:ea typeface="+mn-ea"/>
                <a:cs typeface="+mn-cs"/>
              </a:rPr>
              <a:t>region ( 7/08/2023)</a:t>
            </a:r>
            <a:endParaRPr lang="fr-FR" sz="1800" b="1" i="0" u="sng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effectLst/>
              <a:latin typeface="+mn-lt"/>
              <a:ea typeface="+mn-ea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REGION!$BC$4</c:f>
              <c:strCache>
                <c:ptCount val="1"/>
                <c:pt idx="0">
                  <c:v>Pré-enrôlés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REGION!$BB$5:$BB$14</c:f>
              <c:strCache>
                <c:ptCount val="10"/>
                <c:pt idx="0">
                  <c:v>Adamaoua</c:v>
                </c:pt>
                <c:pt idx="1">
                  <c:v>Centre</c:v>
                </c:pt>
                <c:pt idx="2">
                  <c:v>Est</c:v>
                </c:pt>
                <c:pt idx="3">
                  <c:v>Extrême Nord</c:v>
                </c:pt>
                <c:pt idx="4">
                  <c:v>Littoral</c:v>
                </c:pt>
                <c:pt idx="5">
                  <c:v>Nord</c:v>
                </c:pt>
                <c:pt idx="6">
                  <c:v>Nord Ouest</c:v>
                </c:pt>
                <c:pt idx="7">
                  <c:v>Ouest</c:v>
                </c:pt>
                <c:pt idx="8">
                  <c:v>Sud</c:v>
                </c:pt>
                <c:pt idx="9">
                  <c:v>Sud Ouest</c:v>
                </c:pt>
              </c:strCache>
            </c:strRef>
          </c:cat>
          <c:val>
            <c:numRef>
              <c:f>REGION!$BC$5:$BC$14</c:f>
              <c:numCache>
                <c:formatCode>_-* #\ ##0_-;\-* #\ ##0_-;_-* "-"??_-;_-@_-</c:formatCode>
                <c:ptCount val="10"/>
                <c:pt idx="0">
                  <c:v>40241</c:v>
                </c:pt>
                <c:pt idx="1">
                  <c:v>39609</c:v>
                </c:pt>
                <c:pt idx="2">
                  <c:v>83738</c:v>
                </c:pt>
                <c:pt idx="3">
                  <c:v>76536</c:v>
                </c:pt>
                <c:pt idx="4">
                  <c:v>31767</c:v>
                </c:pt>
                <c:pt idx="5">
                  <c:v>43291</c:v>
                </c:pt>
                <c:pt idx="6">
                  <c:v>80728</c:v>
                </c:pt>
                <c:pt idx="7">
                  <c:v>41407</c:v>
                </c:pt>
                <c:pt idx="8">
                  <c:v>16169</c:v>
                </c:pt>
                <c:pt idx="9">
                  <c:v>22345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522C-41FA-B5D6-7312FF82D4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88012184"/>
        <c:axId val="788015712"/>
      </c:barChart>
      <c:catAx>
        <c:axId val="7880121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788015712"/>
        <c:crosses val="autoZero"/>
        <c:auto val="1"/>
        <c:lblAlgn val="ctr"/>
        <c:lblOffset val="100"/>
        <c:noMultiLvlLbl val="0"/>
      </c:catAx>
      <c:valAx>
        <c:axId val="788015712"/>
        <c:scaling>
          <c:orientation val="minMax"/>
        </c:scaling>
        <c:delete val="0"/>
        <c:axPos val="l"/>
        <c:numFmt formatCode="_-* #\ ##0_-;\-* #\ ##0_-;_-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7880121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u="sng" baseline="0">
                <a:effectLst/>
              </a:rPr>
              <a:t>Nombre de personnes Enrôlées par region (7/08/2023)</a:t>
            </a:r>
            <a:endParaRPr lang="fr-FR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REGION!$BD$4</c:f>
              <c:strCache>
                <c:ptCount val="1"/>
                <c:pt idx="0">
                  <c:v>Enrôlés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REGION!$BB$5:$BB$14</c:f>
              <c:strCache>
                <c:ptCount val="10"/>
                <c:pt idx="0">
                  <c:v>Adamaoua</c:v>
                </c:pt>
                <c:pt idx="1">
                  <c:v>Centre</c:v>
                </c:pt>
                <c:pt idx="2">
                  <c:v>Est</c:v>
                </c:pt>
                <c:pt idx="3">
                  <c:v>Extrême Nord</c:v>
                </c:pt>
                <c:pt idx="4">
                  <c:v>Littoral</c:v>
                </c:pt>
                <c:pt idx="5">
                  <c:v>Nord</c:v>
                </c:pt>
                <c:pt idx="6">
                  <c:v>Nord Ouest</c:v>
                </c:pt>
                <c:pt idx="7">
                  <c:v>Ouest</c:v>
                </c:pt>
                <c:pt idx="8">
                  <c:v>Sud</c:v>
                </c:pt>
                <c:pt idx="9">
                  <c:v>Sud Ouest</c:v>
                </c:pt>
              </c:strCache>
            </c:strRef>
          </c:cat>
          <c:val>
            <c:numRef>
              <c:f>REGION!$BD$5:$BD$14</c:f>
              <c:numCache>
                <c:formatCode>_-* #\ ##0_-;\-* #\ ##0_-;_-* "-"??_-;_-@_-</c:formatCode>
                <c:ptCount val="10"/>
                <c:pt idx="0">
                  <c:v>15650</c:v>
                </c:pt>
                <c:pt idx="1">
                  <c:v>587</c:v>
                </c:pt>
                <c:pt idx="2">
                  <c:v>39159</c:v>
                </c:pt>
                <c:pt idx="3">
                  <c:v>10592</c:v>
                </c:pt>
                <c:pt idx="4">
                  <c:v>3435</c:v>
                </c:pt>
                <c:pt idx="5">
                  <c:v>4600</c:v>
                </c:pt>
                <c:pt idx="6">
                  <c:v>41450</c:v>
                </c:pt>
                <c:pt idx="7">
                  <c:v>46503</c:v>
                </c:pt>
                <c:pt idx="8">
                  <c:v>12189</c:v>
                </c:pt>
                <c:pt idx="9">
                  <c:v>7958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9D7B-47E5-BD72-200C5D1410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88011008"/>
        <c:axId val="788016888"/>
      </c:barChart>
      <c:catAx>
        <c:axId val="7880110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788016888"/>
        <c:crosses val="autoZero"/>
        <c:auto val="1"/>
        <c:lblAlgn val="ctr"/>
        <c:lblOffset val="100"/>
        <c:noMultiLvlLbl val="0"/>
      </c:catAx>
      <c:valAx>
        <c:axId val="788016888"/>
        <c:scaling>
          <c:orientation val="minMax"/>
        </c:scaling>
        <c:delete val="0"/>
        <c:axPos val="l"/>
        <c:numFmt formatCode="_-* #\ ##0_-;\-* #\ ##0_-;_-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7880110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2C6BB46-F17D-4BF1-A687-3AA14B594CC9}" type="doc">
      <dgm:prSet loTypeId="urn:microsoft.com/office/officeart/2011/layout/CircleProcess" loCatId="officeonline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06FC417-B1A7-4C07-999B-5ADC7872EC8C}">
      <dgm:prSet phldrT="[Text]" custT="1"/>
      <dgm:spPr/>
      <dgm:t>
        <a:bodyPr/>
        <a:lstStyle/>
        <a:p>
          <a:r>
            <a:rPr lang="fr-FR" sz="1600" b="1" dirty="0"/>
            <a:t>OBJECTIF</a:t>
          </a:r>
          <a:endParaRPr lang="en-US" sz="1600" b="1" dirty="0"/>
        </a:p>
      </dgm:t>
    </dgm:pt>
    <dgm:pt modelId="{6ACE7672-A76D-4B2D-B37F-6EE37F742D06}" type="parTrans" cxnId="{B77059DC-6248-4B4A-AEAF-AD411BAE69C6}">
      <dgm:prSet/>
      <dgm:spPr/>
      <dgm:t>
        <a:bodyPr/>
        <a:lstStyle/>
        <a:p>
          <a:endParaRPr lang="en-US"/>
        </a:p>
      </dgm:t>
    </dgm:pt>
    <dgm:pt modelId="{B753F38D-5FED-4672-BFE6-E937549905F9}" type="sibTrans" cxnId="{B77059DC-6248-4B4A-AEAF-AD411BAE69C6}">
      <dgm:prSet/>
      <dgm:spPr/>
      <dgm:t>
        <a:bodyPr/>
        <a:lstStyle/>
        <a:p>
          <a:endParaRPr lang="en-US"/>
        </a:p>
      </dgm:t>
    </dgm:pt>
    <dgm:pt modelId="{B16EBC4C-B508-4980-8137-7A72F1ECA6F4}">
      <dgm:prSet phldrT="[Text]" custT="1"/>
      <dgm:spPr/>
      <dgm:t>
        <a:bodyPr/>
        <a:lstStyle/>
        <a:p>
          <a:pPr algn="ctr"/>
          <a:endParaRPr lang="fr-FR" sz="2000" b="1" dirty="0"/>
        </a:p>
        <a:p>
          <a:pPr algn="l"/>
          <a:r>
            <a:rPr lang="fr-FR" sz="2000" b="0" dirty="0"/>
            <a:t>   </a:t>
          </a:r>
          <a:r>
            <a:rPr lang="fr-FR" sz="1800" b="1" dirty="0"/>
            <a:t>Statistiques </a:t>
          </a:r>
        </a:p>
        <a:p>
          <a:pPr algn="l"/>
          <a:endParaRPr lang="fr-CM" sz="2000" b="0" dirty="0"/>
        </a:p>
      </dgm:t>
    </dgm:pt>
    <dgm:pt modelId="{F88C87A3-83D4-4682-A81C-079EDE0DF2B4}" type="parTrans" cxnId="{8E819278-287D-44FB-A58D-887D7484F464}">
      <dgm:prSet/>
      <dgm:spPr/>
      <dgm:t>
        <a:bodyPr/>
        <a:lstStyle/>
        <a:p>
          <a:endParaRPr lang="en-US"/>
        </a:p>
      </dgm:t>
    </dgm:pt>
    <dgm:pt modelId="{C9872821-5880-4438-B4CA-C20F73B97C19}" type="sibTrans" cxnId="{8E819278-287D-44FB-A58D-887D7484F464}">
      <dgm:prSet/>
      <dgm:spPr/>
      <dgm:t>
        <a:bodyPr/>
        <a:lstStyle/>
        <a:p>
          <a:endParaRPr lang="en-US"/>
        </a:p>
      </dgm:t>
    </dgm:pt>
    <dgm:pt modelId="{BC9DE9F4-89BD-4CAB-BAA8-F346DEC43292}">
      <dgm:prSet phldrT="[Text]" custT="1"/>
      <dgm:spPr/>
      <dgm:t>
        <a:bodyPr/>
        <a:lstStyle/>
        <a:p>
          <a:pPr algn="l"/>
          <a:r>
            <a:rPr lang="fr-CM" sz="1800" b="1" dirty="0"/>
            <a:t>Actions Récentes</a:t>
          </a:r>
        </a:p>
      </dgm:t>
    </dgm:pt>
    <dgm:pt modelId="{CA97A78B-DF12-4F98-BAF5-8BBD82C29D09}" type="parTrans" cxnId="{668EB785-0B7E-4281-A3A4-B6A6A22FB032}">
      <dgm:prSet/>
      <dgm:spPr/>
      <dgm:t>
        <a:bodyPr/>
        <a:lstStyle/>
        <a:p>
          <a:endParaRPr lang="en-US"/>
        </a:p>
      </dgm:t>
    </dgm:pt>
    <dgm:pt modelId="{AA87944D-0936-448E-82A0-84904B515185}" type="sibTrans" cxnId="{668EB785-0B7E-4281-A3A4-B6A6A22FB032}">
      <dgm:prSet/>
      <dgm:spPr/>
      <dgm:t>
        <a:bodyPr/>
        <a:lstStyle/>
        <a:p>
          <a:endParaRPr lang="en-US"/>
        </a:p>
      </dgm:t>
    </dgm:pt>
    <dgm:pt modelId="{7B3BA2F3-CE94-4B27-8EF2-43004466091B}">
      <dgm:prSet custT="1"/>
      <dgm:spPr/>
      <dgm:t>
        <a:bodyPr/>
        <a:lstStyle/>
        <a:p>
          <a:r>
            <a:rPr lang="fr-CM" sz="1600" b="1" dirty="0"/>
            <a:t>PROCHAINES ETAPES</a:t>
          </a:r>
          <a:endParaRPr lang="fr-CM" sz="1600" b="0" dirty="0"/>
        </a:p>
      </dgm:t>
    </dgm:pt>
    <dgm:pt modelId="{EABFE0EB-6BFC-4412-B5DC-23CF08EDE9B9}" type="parTrans" cxnId="{FD43F93E-5F9C-45BB-BCF5-AF8B00E5D8F4}">
      <dgm:prSet/>
      <dgm:spPr/>
      <dgm:t>
        <a:bodyPr/>
        <a:lstStyle/>
        <a:p>
          <a:endParaRPr lang="fr-FR"/>
        </a:p>
      </dgm:t>
    </dgm:pt>
    <dgm:pt modelId="{CED76753-A1CE-4E8C-8629-FC6E362AF424}" type="sibTrans" cxnId="{FD43F93E-5F9C-45BB-BCF5-AF8B00E5D8F4}">
      <dgm:prSet/>
      <dgm:spPr/>
      <dgm:t>
        <a:bodyPr/>
        <a:lstStyle/>
        <a:p>
          <a:endParaRPr lang="fr-FR"/>
        </a:p>
      </dgm:t>
    </dgm:pt>
    <dgm:pt modelId="{6EB7AF79-4D1A-48AA-874D-5A855475FF5E}">
      <dgm:prSet custT="1"/>
      <dgm:spPr/>
      <dgm:t>
        <a:bodyPr/>
        <a:lstStyle/>
        <a:p>
          <a:r>
            <a:rPr lang="fr-CM" sz="1800" b="1" dirty="0"/>
            <a:t>Difficultés rencontrées et Solutions </a:t>
          </a:r>
          <a:endParaRPr lang="fr-FR" sz="1800" dirty="0"/>
        </a:p>
      </dgm:t>
    </dgm:pt>
    <dgm:pt modelId="{8A028BD0-F7C0-4C05-A60D-8E1B5D7C31CF}" type="parTrans" cxnId="{DBF9F993-2253-4311-882B-047EAC659729}">
      <dgm:prSet/>
      <dgm:spPr/>
      <dgm:t>
        <a:bodyPr/>
        <a:lstStyle/>
        <a:p>
          <a:endParaRPr lang="fr-FR"/>
        </a:p>
      </dgm:t>
    </dgm:pt>
    <dgm:pt modelId="{1A91EB8A-D9F8-4776-849D-59804B5E887F}" type="sibTrans" cxnId="{DBF9F993-2253-4311-882B-047EAC659729}">
      <dgm:prSet/>
      <dgm:spPr/>
      <dgm:t>
        <a:bodyPr/>
        <a:lstStyle/>
        <a:p>
          <a:endParaRPr lang="fr-FR"/>
        </a:p>
      </dgm:t>
    </dgm:pt>
    <dgm:pt modelId="{68E050F8-1BD2-4DB4-A765-8722A7AB5511}" type="pres">
      <dgm:prSet presAssocID="{02C6BB46-F17D-4BF1-A687-3AA14B594CC9}" presName="Name0" presStyleCnt="0">
        <dgm:presLayoutVars>
          <dgm:chMax val="11"/>
          <dgm:chPref val="11"/>
          <dgm:dir/>
          <dgm:resizeHandles/>
        </dgm:presLayoutVars>
      </dgm:prSet>
      <dgm:spPr/>
      <dgm:t>
        <a:bodyPr/>
        <a:lstStyle/>
        <a:p>
          <a:endParaRPr lang="fr-FR"/>
        </a:p>
      </dgm:t>
    </dgm:pt>
    <dgm:pt modelId="{BDDFACF4-B864-4ECA-B278-7CF8ECE044A5}" type="pres">
      <dgm:prSet presAssocID="{7B3BA2F3-CE94-4B27-8EF2-43004466091B}" presName="Accent5" presStyleCnt="0"/>
      <dgm:spPr/>
    </dgm:pt>
    <dgm:pt modelId="{C5A47C74-9833-48B9-B11C-75290DDDE7AD}" type="pres">
      <dgm:prSet presAssocID="{7B3BA2F3-CE94-4B27-8EF2-43004466091B}" presName="Accent" presStyleLbl="node1" presStyleIdx="0" presStyleCnt="5" custScaleX="123571" custScaleY="102844" custLinFactNeighborX="26949" custLinFactNeighborY="-1172"/>
      <dgm:spPr/>
    </dgm:pt>
    <dgm:pt modelId="{F824848A-731B-43ED-9ECD-2FB9F1F3A9DA}" type="pres">
      <dgm:prSet presAssocID="{7B3BA2F3-CE94-4B27-8EF2-43004466091B}" presName="ParentBackground5" presStyleCnt="0"/>
      <dgm:spPr/>
    </dgm:pt>
    <dgm:pt modelId="{AC430A07-ECB0-4F07-AD36-D8C6650A537F}" type="pres">
      <dgm:prSet presAssocID="{7B3BA2F3-CE94-4B27-8EF2-43004466091B}" presName="ParentBackground" presStyleLbl="fgAcc1" presStyleIdx="0" presStyleCnt="5" custScaleX="123571" custScaleY="102844" custLinFactNeighborX="28865" custLinFactNeighborY="-1255"/>
      <dgm:spPr/>
      <dgm:t>
        <a:bodyPr/>
        <a:lstStyle/>
        <a:p>
          <a:endParaRPr lang="fr-FR"/>
        </a:p>
      </dgm:t>
    </dgm:pt>
    <dgm:pt modelId="{8FA009C8-9E6E-4EE4-AA2E-D78091121F3E}" type="pres">
      <dgm:prSet presAssocID="{7B3BA2F3-CE94-4B27-8EF2-43004466091B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CF3DB99-D0BF-46CE-99BB-E66080D026F1}" type="pres">
      <dgm:prSet presAssocID="{6EB7AF79-4D1A-48AA-874D-5A855475FF5E}" presName="Accent4" presStyleCnt="0"/>
      <dgm:spPr/>
    </dgm:pt>
    <dgm:pt modelId="{B17EF68A-8528-407B-BEEB-CB3CA874260F}" type="pres">
      <dgm:prSet presAssocID="{6EB7AF79-4D1A-48AA-874D-5A855475FF5E}" presName="Accent" presStyleLbl="node1" presStyleIdx="1" presStyleCnt="5"/>
      <dgm:spPr/>
    </dgm:pt>
    <dgm:pt modelId="{325E4019-DA64-49C9-85B1-D4262BF4BBF2}" type="pres">
      <dgm:prSet presAssocID="{6EB7AF79-4D1A-48AA-874D-5A855475FF5E}" presName="ParentBackground4" presStyleCnt="0"/>
      <dgm:spPr/>
    </dgm:pt>
    <dgm:pt modelId="{522BCBCE-4129-4363-9F57-9170DDB85AEF}" type="pres">
      <dgm:prSet presAssocID="{6EB7AF79-4D1A-48AA-874D-5A855475FF5E}" presName="ParentBackground" presStyleLbl="fgAcc1" presStyleIdx="1" presStyleCnt="5"/>
      <dgm:spPr/>
      <dgm:t>
        <a:bodyPr/>
        <a:lstStyle/>
        <a:p>
          <a:endParaRPr lang="fr-FR"/>
        </a:p>
      </dgm:t>
    </dgm:pt>
    <dgm:pt modelId="{3E05F14A-5B1D-4B21-9A89-9EA5D5D85097}" type="pres">
      <dgm:prSet presAssocID="{6EB7AF79-4D1A-48AA-874D-5A855475FF5E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97A13728-F5E1-4D82-AA2E-571B20AA0092}" type="pres">
      <dgm:prSet presAssocID="{BC9DE9F4-89BD-4CAB-BAA8-F346DEC43292}" presName="Accent3" presStyleCnt="0"/>
      <dgm:spPr/>
    </dgm:pt>
    <dgm:pt modelId="{7F28F273-1BDF-4CFF-ACCF-F712EC72D926}" type="pres">
      <dgm:prSet presAssocID="{BC9DE9F4-89BD-4CAB-BAA8-F346DEC43292}" presName="Accent" presStyleLbl="node1" presStyleIdx="2" presStyleCnt="5" custScaleX="112837" custScaleY="107694"/>
      <dgm:spPr/>
    </dgm:pt>
    <dgm:pt modelId="{E6C4C0AA-CBBB-4A51-ABF5-15D3E6E4A9E5}" type="pres">
      <dgm:prSet presAssocID="{BC9DE9F4-89BD-4CAB-BAA8-F346DEC43292}" presName="ParentBackground3" presStyleCnt="0"/>
      <dgm:spPr/>
    </dgm:pt>
    <dgm:pt modelId="{F3B1A209-DADE-4448-AE85-DE52E696AEC4}" type="pres">
      <dgm:prSet presAssocID="{BC9DE9F4-89BD-4CAB-BAA8-F346DEC43292}" presName="ParentBackground" presStyleLbl="fgAcc1" presStyleIdx="2" presStyleCnt="5" custScaleX="116065" custScaleY="83931" custLinFactNeighborX="7560" custLinFactNeighborY="-2033"/>
      <dgm:spPr/>
      <dgm:t>
        <a:bodyPr/>
        <a:lstStyle/>
        <a:p>
          <a:endParaRPr lang="fr-FR"/>
        </a:p>
      </dgm:t>
    </dgm:pt>
    <dgm:pt modelId="{69B3BD42-490D-4660-8CF3-1D513801636C}" type="pres">
      <dgm:prSet presAssocID="{BC9DE9F4-89BD-4CAB-BAA8-F346DEC43292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AD221E1-1C4B-4812-898C-1FBA8D30C23B}" type="pres">
      <dgm:prSet presAssocID="{B16EBC4C-B508-4980-8137-7A72F1ECA6F4}" presName="Accent2" presStyleCnt="0"/>
      <dgm:spPr/>
    </dgm:pt>
    <dgm:pt modelId="{1029A096-5CBA-4D9C-8BCD-040A2A0383A2}" type="pres">
      <dgm:prSet presAssocID="{B16EBC4C-B508-4980-8137-7A72F1ECA6F4}" presName="Accent" presStyleLbl="node1" presStyleIdx="3" presStyleCnt="5" custScaleX="143671" custScaleY="124069" custLinFactNeighborX="-14914" custLinFactNeighborY="0"/>
      <dgm:spPr/>
    </dgm:pt>
    <dgm:pt modelId="{E7D9FB56-5204-4EA4-8321-AAB1C0B1BB34}" type="pres">
      <dgm:prSet presAssocID="{B16EBC4C-B508-4980-8137-7A72F1ECA6F4}" presName="ParentBackground2" presStyleCnt="0"/>
      <dgm:spPr/>
    </dgm:pt>
    <dgm:pt modelId="{B401FB4F-1806-412A-82AF-3912B340E2D6}" type="pres">
      <dgm:prSet presAssocID="{B16EBC4C-B508-4980-8137-7A72F1ECA6F4}" presName="ParentBackground" presStyleLbl="fgAcc1" presStyleIdx="3" presStyleCnt="5" custScaleX="116935" custLinFactNeighborX="-22594" custLinFactNeighborY="628"/>
      <dgm:spPr/>
      <dgm:t>
        <a:bodyPr/>
        <a:lstStyle/>
        <a:p>
          <a:endParaRPr lang="fr-FR"/>
        </a:p>
      </dgm:t>
    </dgm:pt>
    <dgm:pt modelId="{5AA35D62-A727-421F-AB26-A71536D314C8}" type="pres">
      <dgm:prSet presAssocID="{B16EBC4C-B508-4980-8137-7A72F1ECA6F4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B8223C8-909D-4185-8778-63BBAC7C95B3}" type="pres">
      <dgm:prSet presAssocID="{D06FC417-B1A7-4C07-999B-5ADC7872EC8C}" presName="Accent1" presStyleCnt="0"/>
      <dgm:spPr/>
    </dgm:pt>
    <dgm:pt modelId="{2BFB274A-5FEF-445C-AC4F-29F1DB39073E}" type="pres">
      <dgm:prSet presAssocID="{D06FC417-B1A7-4C07-999B-5ADC7872EC8C}" presName="Accent" presStyleLbl="node1" presStyleIdx="4" presStyleCnt="5" custScaleX="111546" custScaleY="99777" custLinFactNeighborX="-25716" custLinFactNeighborY="-2718"/>
      <dgm:spPr/>
    </dgm:pt>
    <dgm:pt modelId="{C4F8703E-1034-4E61-A1F3-D9E31D20DAC3}" type="pres">
      <dgm:prSet presAssocID="{D06FC417-B1A7-4C07-999B-5ADC7872EC8C}" presName="ParentBackground1" presStyleCnt="0"/>
      <dgm:spPr/>
    </dgm:pt>
    <dgm:pt modelId="{2A92DF2A-4B57-4D49-BC1B-1264E11AD27E}" type="pres">
      <dgm:prSet presAssocID="{D06FC417-B1A7-4C07-999B-5ADC7872EC8C}" presName="ParentBackground" presStyleLbl="fgAcc1" presStyleIdx="4" presStyleCnt="5" custScaleX="68993" custScaleY="77373" custLinFactNeighborX="-27886" custLinFactNeighborY="-5820"/>
      <dgm:spPr/>
      <dgm:t>
        <a:bodyPr/>
        <a:lstStyle/>
        <a:p>
          <a:endParaRPr lang="fr-FR"/>
        </a:p>
      </dgm:t>
    </dgm:pt>
    <dgm:pt modelId="{CE91A84B-4C65-4FB0-AE9D-6AE192D213F3}" type="pres">
      <dgm:prSet presAssocID="{D06FC417-B1A7-4C07-999B-5ADC7872EC8C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668EB785-0B7E-4281-A3A4-B6A6A22FB032}" srcId="{02C6BB46-F17D-4BF1-A687-3AA14B594CC9}" destId="{BC9DE9F4-89BD-4CAB-BAA8-F346DEC43292}" srcOrd="2" destOrd="0" parTransId="{CA97A78B-DF12-4F98-BAF5-8BBD82C29D09}" sibTransId="{AA87944D-0936-448E-82A0-84904B515185}"/>
    <dgm:cxn modelId="{FD43F93E-5F9C-45BB-BCF5-AF8B00E5D8F4}" srcId="{02C6BB46-F17D-4BF1-A687-3AA14B594CC9}" destId="{7B3BA2F3-CE94-4B27-8EF2-43004466091B}" srcOrd="4" destOrd="0" parTransId="{EABFE0EB-6BFC-4412-B5DC-23CF08EDE9B9}" sibTransId="{CED76753-A1CE-4E8C-8629-FC6E362AF424}"/>
    <dgm:cxn modelId="{B77059DC-6248-4B4A-AEAF-AD411BAE69C6}" srcId="{02C6BB46-F17D-4BF1-A687-3AA14B594CC9}" destId="{D06FC417-B1A7-4C07-999B-5ADC7872EC8C}" srcOrd="0" destOrd="0" parTransId="{6ACE7672-A76D-4B2D-B37F-6EE37F742D06}" sibTransId="{B753F38D-5FED-4672-BFE6-E937549905F9}"/>
    <dgm:cxn modelId="{DB64E4D7-AD42-4E9A-8BCD-514588A5B836}" type="presOf" srcId="{BC9DE9F4-89BD-4CAB-BAA8-F346DEC43292}" destId="{F3B1A209-DADE-4448-AE85-DE52E696AEC4}" srcOrd="0" destOrd="0" presId="urn:microsoft.com/office/officeart/2011/layout/CircleProcess"/>
    <dgm:cxn modelId="{DBF9F993-2253-4311-882B-047EAC659729}" srcId="{02C6BB46-F17D-4BF1-A687-3AA14B594CC9}" destId="{6EB7AF79-4D1A-48AA-874D-5A855475FF5E}" srcOrd="3" destOrd="0" parTransId="{8A028BD0-F7C0-4C05-A60D-8E1B5D7C31CF}" sibTransId="{1A91EB8A-D9F8-4776-849D-59804B5E887F}"/>
    <dgm:cxn modelId="{DF7035A3-48A4-4CFC-AB4C-EFB4F33C2544}" type="presOf" srcId="{B16EBC4C-B508-4980-8137-7A72F1ECA6F4}" destId="{B401FB4F-1806-412A-82AF-3912B340E2D6}" srcOrd="0" destOrd="0" presId="urn:microsoft.com/office/officeart/2011/layout/CircleProcess"/>
    <dgm:cxn modelId="{BAB2676B-00D0-4CB8-AF64-50DB1C86B38D}" type="presOf" srcId="{D06FC417-B1A7-4C07-999B-5ADC7872EC8C}" destId="{2A92DF2A-4B57-4D49-BC1B-1264E11AD27E}" srcOrd="0" destOrd="0" presId="urn:microsoft.com/office/officeart/2011/layout/CircleProcess"/>
    <dgm:cxn modelId="{A81503FA-C5D0-4AAC-B91A-73C2878E79FF}" type="presOf" srcId="{7B3BA2F3-CE94-4B27-8EF2-43004466091B}" destId="{AC430A07-ECB0-4F07-AD36-D8C6650A537F}" srcOrd="0" destOrd="0" presId="urn:microsoft.com/office/officeart/2011/layout/CircleProcess"/>
    <dgm:cxn modelId="{058D40BF-D74E-40FC-BE9F-3BEF8EDEB6E0}" type="presOf" srcId="{02C6BB46-F17D-4BF1-A687-3AA14B594CC9}" destId="{68E050F8-1BD2-4DB4-A765-8722A7AB5511}" srcOrd="0" destOrd="0" presId="urn:microsoft.com/office/officeart/2011/layout/CircleProcess"/>
    <dgm:cxn modelId="{8E819278-287D-44FB-A58D-887D7484F464}" srcId="{02C6BB46-F17D-4BF1-A687-3AA14B594CC9}" destId="{B16EBC4C-B508-4980-8137-7A72F1ECA6F4}" srcOrd="1" destOrd="0" parTransId="{F88C87A3-83D4-4682-A81C-079EDE0DF2B4}" sibTransId="{C9872821-5880-4438-B4CA-C20F73B97C19}"/>
    <dgm:cxn modelId="{4BAC9B55-EA29-4B6C-9F20-A369BA6A1299}" type="presOf" srcId="{B16EBC4C-B508-4980-8137-7A72F1ECA6F4}" destId="{5AA35D62-A727-421F-AB26-A71536D314C8}" srcOrd="1" destOrd="0" presId="urn:microsoft.com/office/officeart/2011/layout/CircleProcess"/>
    <dgm:cxn modelId="{39BF94AC-08F6-4D29-982A-3D76B5B3A066}" type="presOf" srcId="{6EB7AF79-4D1A-48AA-874D-5A855475FF5E}" destId="{522BCBCE-4129-4363-9F57-9170DDB85AEF}" srcOrd="0" destOrd="0" presId="urn:microsoft.com/office/officeart/2011/layout/CircleProcess"/>
    <dgm:cxn modelId="{8AA78C97-19C3-4BC5-A6AD-F3E4CFB9FB82}" type="presOf" srcId="{BC9DE9F4-89BD-4CAB-BAA8-F346DEC43292}" destId="{69B3BD42-490D-4660-8CF3-1D513801636C}" srcOrd="1" destOrd="0" presId="urn:microsoft.com/office/officeart/2011/layout/CircleProcess"/>
    <dgm:cxn modelId="{7D8DE431-4BB0-4004-8E9C-DB46E4113E48}" type="presOf" srcId="{D06FC417-B1A7-4C07-999B-5ADC7872EC8C}" destId="{CE91A84B-4C65-4FB0-AE9D-6AE192D213F3}" srcOrd="1" destOrd="0" presId="urn:microsoft.com/office/officeart/2011/layout/CircleProcess"/>
    <dgm:cxn modelId="{9691F777-7B43-4F6C-8776-EE7A21A15EF1}" type="presOf" srcId="{7B3BA2F3-CE94-4B27-8EF2-43004466091B}" destId="{8FA009C8-9E6E-4EE4-AA2E-D78091121F3E}" srcOrd="1" destOrd="0" presId="urn:microsoft.com/office/officeart/2011/layout/CircleProcess"/>
    <dgm:cxn modelId="{7C658B55-DC1B-40AB-B80F-5820D3F2D5EA}" type="presOf" srcId="{6EB7AF79-4D1A-48AA-874D-5A855475FF5E}" destId="{3E05F14A-5B1D-4B21-9A89-9EA5D5D85097}" srcOrd="1" destOrd="0" presId="urn:microsoft.com/office/officeart/2011/layout/CircleProcess"/>
    <dgm:cxn modelId="{D72815CC-AED8-431D-BA58-50E521DC6385}" type="presParOf" srcId="{68E050F8-1BD2-4DB4-A765-8722A7AB5511}" destId="{BDDFACF4-B864-4ECA-B278-7CF8ECE044A5}" srcOrd="0" destOrd="0" presId="urn:microsoft.com/office/officeart/2011/layout/CircleProcess"/>
    <dgm:cxn modelId="{12FE4263-94DD-4003-8013-039C8F9ADA81}" type="presParOf" srcId="{BDDFACF4-B864-4ECA-B278-7CF8ECE044A5}" destId="{C5A47C74-9833-48B9-B11C-75290DDDE7AD}" srcOrd="0" destOrd="0" presId="urn:microsoft.com/office/officeart/2011/layout/CircleProcess"/>
    <dgm:cxn modelId="{2B090A9E-50B5-4DF7-A03E-BD13E9303805}" type="presParOf" srcId="{68E050F8-1BD2-4DB4-A765-8722A7AB5511}" destId="{F824848A-731B-43ED-9ECD-2FB9F1F3A9DA}" srcOrd="1" destOrd="0" presId="urn:microsoft.com/office/officeart/2011/layout/CircleProcess"/>
    <dgm:cxn modelId="{ECF9C3C0-32DE-41B5-9AB3-7B6B5D835BFA}" type="presParOf" srcId="{F824848A-731B-43ED-9ECD-2FB9F1F3A9DA}" destId="{AC430A07-ECB0-4F07-AD36-D8C6650A537F}" srcOrd="0" destOrd="0" presId="urn:microsoft.com/office/officeart/2011/layout/CircleProcess"/>
    <dgm:cxn modelId="{2ED93CC9-2C02-4BC8-90BC-0FFD128F4ABF}" type="presParOf" srcId="{68E050F8-1BD2-4DB4-A765-8722A7AB5511}" destId="{8FA009C8-9E6E-4EE4-AA2E-D78091121F3E}" srcOrd="2" destOrd="0" presId="urn:microsoft.com/office/officeart/2011/layout/CircleProcess"/>
    <dgm:cxn modelId="{9DA2C381-7C61-4B27-A400-9CD595F8957E}" type="presParOf" srcId="{68E050F8-1BD2-4DB4-A765-8722A7AB5511}" destId="{FCF3DB99-D0BF-46CE-99BB-E66080D026F1}" srcOrd="3" destOrd="0" presId="urn:microsoft.com/office/officeart/2011/layout/CircleProcess"/>
    <dgm:cxn modelId="{D21E9644-791E-4D4E-AF31-BD0836C37EC3}" type="presParOf" srcId="{FCF3DB99-D0BF-46CE-99BB-E66080D026F1}" destId="{B17EF68A-8528-407B-BEEB-CB3CA874260F}" srcOrd="0" destOrd="0" presId="urn:microsoft.com/office/officeart/2011/layout/CircleProcess"/>
    <dgm:cxn modelId="{DD4F547A-1822-4BBD-9DFF-9349509A8066}" type="presParOf" srcId="{68E050F8-1BD2-4DB4-A765-8722A7AB5511}" destId="{325E4019-DA64-49C9-85B1-D4262BF4BBF2}" srcOrd="4" destOrd="0" presId="urn:microsoft.com/office/officeart/2011/layout/CircleProcess"/>
    <dgm:cxn modelId="{305255C3-4B28-4E29-A5E4-5728A7F3F8D9}" type="presParOf" srcId="{325E4019-DA64-49C9-85B1-D4262BF4BBF2}" destId="{522BCBCE-4129-4363-9F57-9170DDB85AEF}" srcOrd="0" destOrd="0" presId="urn:microsoft.com/office/officeart/2011/layout/CircleProcess"/>
    <dgm:cxn modelId="{4ADF592A-E974-4751-9816-ADCA98066F7E}" type="presParOf" srcId="{68E050F8-1BD2-4DB4-A765-8722A7AB5511}" destId="{3E05F14A-5B1D-4B21-9A89-9EA5D5D85097}" srcOrd="5" destOrd="0" presId="urn:microsoft.com/office/officeart/2011/layout/CircleProcess"/>
    <dgm:cxn modelId="{96904B28-EE43-48C1-8CD8-739040E10F4B}" type="presParOf" srcId="{68E050F8-1BD2-4DB4-A765-8722A7AB5511}" destId="{97A13728-F5E1-4D82-AA2E-571B20AA0092}" srcOrd="6" destOrd="0" presId="urn:microsoft.com/office/officeart/2011/layout/CircleProcess"/>
    <dgm:cxn modelId="{B4AD1C07-3C2D-4D35-9633-1A87E687420A}" type="presParOf" srcId="{97A13728-F5E1-4D82-AA2E-571B20AA0092}" destId="{7F28F273-1BDF-4CFF-ACCF-F712EC72D926}" srcOrd="0" destOrd="0" presId="urn:microsoft.com/office/officeart/2011/layout/CircleProcess"/>
    <dgm:cxn modelId="{D9F21541-081E-489C-B5FF-13129DBD721B}" type="presParOf" srcId="{68E050F8-1BD2-4DB4-A765-8722A7AB5511}" destId="{E6C4C0AA-CBBB-4A51-ABF5-15D3E6E4A9E5}" srcOrd="7" destOrd="0" presId="urn:microsoft.com/office/officeart/2011/layout/CircleProcess"/>
    <dgm:cxn modelId="{06AEF55D-B41C-4E6A-A2FD-1348931AD311}" type="presParOf" srcId="{E6C4C0AA-CBBB-4A51-ABF5-15D3E6E4A9E5}" destId="{F3B1A209-DADE-4448-AE85-DE52E696AEC4}" srcOrd="0" destOrd="0" presId="urn:microsoft.com/office/officeart/2011/layout/CircleProcess"/>
    <dgm:cxn modelId="{C277B585-A201-4067-86CF-F6814324E32D}" type="presParOf" srcId="{68E050F8-1BD2-4DB4-A765-8722A7AB5511}" destId="{69B3BD42-490D-4660-8CF3-1D513801636C}" srcOrd="8" destOrd="0" presId="urn:microsoft.com/office/officeart/2011/layout/CircleProcess"/>
    <dgm:cxn modelId="{64FFE0DB-3014-48AE-8A05-F4CCA1F059EE}" type="presParOf" srcId="{68E050F8-1BD2-4DB4-A765-8722A7AB5511}" destId="{5AD221E1-1C4B-4812-898C-1FBA8D30C23B}" srcOrd="9" destOrd="0" presId="urn:microsoft.com/office/officeart/2011/layout/CircleProcess"/>
    <dgm:cxn modelId="{42B18FE5-08DB-4D0C-93D6-089362A5CEBE}" type="presParOf" srcId="{5AD221E1-1C4B-4812-898C-1FBA8D30C23B}" destId="{1029A096-5CBA-4D9C-8BCD-040A2A0383A2}" srcOrd="0" destOrd="0" presId="urn:microsoft.com/office/officeart/2011/layout/CircleProcess"/>
    <dgm:cxn modelId="{37DD1174-B1AA-4D2B-BAD3-B6B65F1A49FE}" type="presParOf" srcId="{68E050F8-1BD2-4DB4-A765-8722A7AB5511}" destId="{E7D9FB56-5204-4EA4-8321-AAB1C0B1BB34}" srcOrd="10" destOrd="0" presId="urn:microsoft.com/office/officeart/2011/layout/CircleProcess"/>
    <dgm:cxn modelId="{38FB2AFC-79D5-4988-89C7-56F393E82EF2}" type="presParOf" srcId="{E7D9FB56-5204-4EA4-8321-AAB1C0B1BB34}" destId="{B401FB4F-1806-412A-82AF-3912B340E2D6}" srcOrd="0" destOrd="0" presId="urn:microsoft.com/office/officeart/2011/layout/CircleProcess"/>
    <dgm:cxn modelId="{05244B64-CE39-445B-93D5-3C238ECD6868}" type="presParOf" srcId="{68E050F8-1BD2-4DB4-A765-8722A7AB5511}" destId="{5AA35D62-A727-421F-AB26-A71536D314C8}" srcOrd="11" destOrd="0" presId="urn:microsoft.com/office/officeart/2011/layout/CircleProcess"/>
    <dgm:cxn modelId="{242890FD-D1D2-428B-AD78-B6032E9FDC9F}" type="presParOf" srcId="{68E050F8-1BD2-4DB4-A765-8722A7AB5511}" destId="{BB8223C8-909D-4185-8778-63BBAC7C95B3}" srcOrd="12" destOrd="0" presId="urn:microsoft.com/office/officeart/2011/layout/CircleProcess"/>
    <dgm:cxn modelId="{0417E350-E2D3-492A-AD36-CFBA414BA765}" type="presParOf" srcId="{BB8223C8-909D-4185-8778-63BBAC7C95B3}" destId="{2BFB274A-5FEF-445C-AC4F-29F1DB39073E}" srcOrd="0" destOrd="0" presId="urn:microsoft.com/office/officeart/2011/layout/CircleProcess"/>
    <dgm:cxn modelId="{CDC49E7E-7ABD-451C-9FCE-341180CA085F}" type="presParOf" srcId="{68E050F8-1BD2-4DB4-A765-8722A7AB5511}" destId="{C4F8703E-1034-4E61-A1F3-D9E31D20DAC3}" srcOrd="13" destOrd="0" presId="urn:microsoft.com/office/officeart/2011/layout/CircleProcess"/>
    <dgm:cxn modelId="{E7F1D5EE-CC2C-47E1-A03C-95A4EF689D80}" type="presParOf" srcId="{C4F8703E-1034-4E61-A1F3-D9E31D20DAC3}" destId="{2A92DF2A-4B57-4D49-BC1B-1264E11AD27E}" srcOrd="0" destOrd="0" presId="urn:microsoft.com/office/officeart/2011/layout/CircleProcess"/>
    <dgm:cxn modelId="{5ABCDC7A-9BBD-4BC3-A7FF-DDF844FB8D96}" type="presParOf" srcId="{68E050F8-1BD2-4DB4-A765-8722A7AB5511}" destId="{CE91A84B-4C65-4FB0-AE9D-6AE192D213F3}" srcOrd="14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A47C74-9833-48B9-B11C-75290DDDE7AD}">
      <dsp:nvSpPr>
        <dsp:cNvPr id="0" name=""/>
        <dsp:cNvSpPr/>
      </dsp:nvSpPr>
      <dsp:spPr>
        <a:xfrm>
          <a:off x="9249443" y="689446"/>
          <a:ext cx="2401830" cy="1999289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C430A07-ECB0-4F07-AD36-D8C6650A537F}">
      <dsp:nvSpPr>
        <dsp:cNvPr id="0" name=""/>
        <dsp:cNvSpPr/>
      </dsp:nvSpPr>
      <dsp:spPr>
        <a:xfrm>
          <a:off x="9409225" y="756114"/>
          <a:ext cx="2242048" cy="186598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M" sz="1600" b="1" kern="1200" dirty="0"/>
            <a:t>PROCHAINES ETAPES</a:t>
          </a:r>
          <a:endParaRPr lang="fr-CM" sz="1600" b="0" kern="1200" dirty="0"/>
        </a:p>
      </dsp:txBody>
      <dsp:txXfrm>
        <a:off x="9730065" y="1022733"/>
        <a:ext cx="1601646" cy="1332742"/>
      </dsp:txXfrm>
    </dsp:sp>
    <dsp:sp modelId="{B17EF68A-8528-407B-BEEB-CB3CA874260F}">
      <dsp:nvSpPr>
        <dsp:cNvPr id="0" name=""/>
        <dsp:cNvSpPr/>
      </dsp:nvSpPr>
      <dsp:spPr>
        <a:xfrm rot="2700000">
          <a:off x="7027719" y="739974"/>
          <a:ext cx="1943459" cy="1943459"/>
        </a:xfrm>
        <a:prstGeom prst="teardrop">
          <a:avLst>
            <a:gd name="adj" fmla="val 10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22BCBCE-4129-4363-9F57-9170DDB85AEF}">
      <dsp:nvSpPr>
        <dsp:cNvPr id="0" name=""/>
        <dsp:cNvSpPr/>
      </dsp:nvSpPr>
      <dsp:spPr>
        <a:xfrm>
          <a:off x="7093810" y="804685"/>
          <a:ext cx="1814381" cy="1814379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M" sz="1800" b="1" kern="1200" dirty="0"/>
            <a:t>Difficultés rencontrées et Solutions </a:t>
          </a:r>
          <a:endParaRPr lang="fr-FR" sz="1800" kern="1200" dirty="0"/>
        </a:p>
      </dsp:txBody>
      <dsp:txXfrm>
        <a:off x="7352416" y="1063931"/>
        <a:ext cx="1296134" cy="1295887"/>
      </dsp:txXfrm>
    </dsp:sp>
    <dsp:sp modelId="{7F28F273-1BDF-4CFF-ACCF-F712EC72D926}">
      <dsp:nvSpPr>
        <dsp:cNvPr id="0" name=""/>
        <dsp:cNvSpPr/>
      </dsp:nvSpPr>
      <dsp:spPr>
        <a:xfrm rot="2700000">
          <a:off x="4944792" y="664865"/>
          <a:ext cx="2093677" cy="2093677"/>
        </a:xfrm>
        <a:prstGeom prst="teardrop">
          <a:avLst>
            <a:gd name="adj" fmla="val 10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3B1A209-DADE-4448-AE85-DE52E696AEC4}">
      <dsp:nvSpPr>
        <dsp:cNvPr id="0" name=""/>
        <dsp:cNvSpPr/>
      </dsp:nvSpPr>
      <dsp:spPr>
        <a:xfrm>
          <a:off x="5076384" y="913575"/>
          <a:ext cx="2105861" cy="152282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M" sz="1800" b="1" kern="1200" dirty="0"/>
            <a:t>Actions Récentes</a:t>
          </a:r>
        </a:p>
      </dsp:txBody>
      <dsp:txXfrm>
        <a:off x="5376535" y="1131162"/>
        <a:ext cx="1504358" cy="1087651"/>
      </dsp:txXfrm>
    </dsp:sp>
    <dsp:sp modelId="{1029A096-5CBA-4D9C-8BCD-040A2A0383A2}">
      <dsp:nvSpPr>
        <dsp:cNvPr id="0" name=""/>
        <dsp:cNvSpPr/>
      </dsp:nvSpPr>
      <dsp:spPr>
        <a:xfrm rot="2700000">
          <a:off x="2366859" y="505692"/>
          <a:ext cx="2412023" cy="2412023"/>
        </a:xfrm>
        <a:prstGeom prst="teardrop">
          <a:avLst>
            <a:gd name="adj" fmla="val 10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401FB4F-1806-412A-82AF-3912B340E2D6}">
      <dsp:nvSpPr>
        <dsp:cNvPr id="0" name=""/>
        <dsp:cNvSpPr/>
      </dsp:nvSpPr>
      <dsp:spPr>
        <a:xfrm>
          <a:off x="2512530" y="816079"/>
          <a:ext cx="2121646" cy="1814379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2000" b="1" kern="1200" dirty="0"/>
        </a:p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000" b="0" kern="1200" dirty="0"/>
            <a:t>   </a:t>
          </a:r>
          <a:r>
            <a:rPr lang="fr-FR" sz="1800" b="1" kern="1200" dirty="0"/>
            <a:t>Statistiques </a:t>
          </a:r>
        </a:p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CM" sz="2000" b="0" kern="1200" dirty="0"/>
        </a:p>
      </dsp:txBody>
      <dsp:txXfrm>
        <a:off x="2816140" y="1075325"/>
        <a:ext cx="1515634" cy="1295887"/>
      </dsp:txXfrm>
    </dsp:sp>
    <dsp:sp modelId="{2BFB274A-5FEF-445C-AC4F-29F1DB39073E}">
      <dsp:nvSpPr>
        <dsp:cNvPr id="0" name=""/>
        <dsp:cNvSpPr/>
      </dsp:nvSpPr>
      <dsp:spPr>
        <a:xfrm rot="2700000">
          <a:off x="563021" y="667095"/>
          <a:ext cx="1939762" cy="1939762"/>
        </a:xfrm>
        <a:prstGeom prst="teardrop">
          <a:avLst>
            <a:gd name="adj" fmla="val 10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A92DF2A-4B57-4D49-BC1B-1264E11AD27E}">
      <dsp:nvSpPr>
        <dsp:cNvPr id="0" name=""/>
        <dsp:cNvSpPr/>
      </dsp:nvSpPr>
      <dsp:spPr>
        <a:xfrm>
          <a:off x="842585" y="904358"/>
          <a:ext cx="1251796" cy="1403839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600" b="1" kern="1200" dirty="0"/>
            <a:t>OBJECTIF</a:t>
          </a:r>
          <a:endParaRPr lang="en-US" sz="1600" b="1" kern="1200" dirty="0"/>
        </a:p>
      </dsp:txBody>
      <dsp:txXfrm>
        <a:off x="1021719" y="1104944"/>
        <a:ext cx="894241" cy="10026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0.00353</cdr:x>
      <cdr:y>0</cdr:y>
    </cdr:from>
    <cdr:to>
      <cdr:x>0.99612</cdr:x>
      <cdr:y>0.99593</cdr:y>
    </cdr:to>
    <cdr:sp macro="" textlink="">
      <cdr:nvSpPr>
        <cdr:cNvPr id="4" name="Rectangle: Diagonal Corners Rounded 3">
          <a:extLst xmlns:a="http://schemas.openxmlformats.org/drawingml/2006/main">
            <a:ext uri="{FF2B5EF4-FFF2-40B4-BE49-F238E27FC236}">
              <a16:creationId xmlns:a16="http://schemas.microsoft.com/office/drawing/2014/main" xmlns="" id="{8DB11780-28CF-4F1D-A847-58052DE94DC7}"/>
            </a:ext>
          </a:extLst>
        </cdr:cNvPr>
        <cdr:cNvSpPr/>
      </cdr:nvSpPr>
      <cdr:spPr>
        <a:xfrm xmlns:a="http://schemas.openxmlformats.org/drawingml/2006/main">
          <a:off x="34637" y="0"/>
          <a:ext cx="9729459" cy="3886591"/>
        </a:xfrm>
        <a:prstGeom xmlns:a="http://schemas.openxmlformats.org/drawingml/2006/main" prst="round2DiagRect">
          <a:avLst/>
        </a:prstGeom>
        <a:noFill xmlns:a="http://schemas.openxmlformats.org/drawingml/2006/main"/>
        <a:ln xmlns:a="http://schemas.openxmlformats.org/drawingml/2006/main" w="28575">
          <a:solidFill>
            <a:schemeClr val="accent6">
              <a:lumMod val="75000"/>
            </a:schemeClr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fr-FR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1511C5-525E-47A5-97F2-1025828F5F4E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EAFB16-0000-4766-AABE-BB9D99FA9FD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51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E5058E2-D4FD-49BD-B3C4-C5197EB2E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5831" y="1188060"/>
            <a:ext cx="6358324" cy="2985112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AF6E8F45-8ABB-4AC9-BD8F-A25EE83A15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5832" y="4824779"/>
            <a:ext cx="6358324" cy="1188474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55769514-7864-4F2D-ADA4-2AAA29635EE2}"/>
              </a:ext>
            </a:extLst>
          </p:cNvPr>
          <p:cNvSpPr/>
          <p:nvPr/>
        </p:nvSpPr>
        <p:spPr>
          <a:xfrm>
            <a:off x="8947638" y="4563211"/>
            <a:ext cx="259371" cy="2198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5063D47F-DEEF-48EC-947F-A2E61B16B4DC}"/>
              </a:ext>
            </a:extLst>
          </p:cNvPr>
          <p:cNvSpPr/>
          <p:nvPr/>
        </p:nvSpPr>
        <p:spPr>
          <a:xfrm>
            <a:off x="9765322" y="973738"/>
            <a:ext cx="259371" cy="21980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3856D5D5-5828-414F-9B25-2ADF0B5C578D}"/>
              </a:ext>
            </a:extLst>
          </p:cNvPr>
          <p:cNvSpPr/>
          <p:nvPr/>
        </p:nvSpPr>
        <p:spPr>
          <a:xfrm>
            <a:off x="10093570" y="973738"/>
            <a:ext cx="2098430" cy="60666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F66775C9-70C1-449A-B2F3-98376F81C4DC}"/>
              </a:ext>
            </a:extLst>
          </p:cNvPr>
          <p:cNvSpPr/>
          <p:nvPr/>
        </p:nvSpPr>
        <p:spPr>
          <a:xfrm>
            <a:off x="11438792" y="2039815"/>
            <a:ext cx="753207" cy="398291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DF28F72A-A72C-4A46-8AAF-D3A3E418C2C0}"/>
              </a:ext>
            </a:extLst>
          </p:cNvPr>
          <p:cNvSpPr/>
          <p:nvPr/>
        </p:nvSpPr>
        <p:spPr>
          <a:xfrm>
            <a:off x="10163908" y="2461846"/>
            <a:ext cx="1210407" cy="15738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D89F1262-DC83-449C-9213-625538F7DF0C}"/>
              </a:ext>
            </a:extLst>
          </p:cNvPr>
          <p:cNvSpPr/>
          <p:nvPr/>
        </p:nvSpPr>
        <p:spPr>
          <a:xfrm>
            <a:off x="9592408" y="1255090"/>
            <a:ext cx="436681" cy="3011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26C3A720-0931-4870-88C9-AC195409B0DA}"/>
              </a:ext>
            </a:extLst>
          </p:cNvPr>
          <p:cNvSpPr/>
          <p:nvPr/>
        </p:nvSpPr>
        <p:spPr>
          <a:xfrm>
            <a:off x="9478106" y="1617786"/>
            <a:ext cx="2713893" cy="360484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BC9DFF0B-D413-4759-8538-10922E8AEF89}"/>
              </a:ext>
            </a:extLst>
          </p:cNvPr>
          <p:cNvSpPr/>
          <p:nvPr/>
        </p:nvSpPr>
        <p:spPr>
          <a:xfrm>
            <a:off x="9258300" y="4088426"/>
            <a:ext cx="2136529" cy="96715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41E465F4-B488-4049-A075-210F15F8F941}"/>
              </a:ext>
            </a:extLst>
          </p:cNvPr>
          <p:cNvSpPr/>
          <p:nvPr/>
        </p:nvSpPr>
        <p:spPr>
          <a:xfrm>
            <a:off x="11104685" y="5108334"/>
            <a:ext cx="290144" cy="174966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C63442A1-CD2A-4A46-8B7E-C7B03387292B}"/>
              </a:ext>
            </a:extLst>
          </p:cNvPr>
          <p:cNvSpPr/>
          <p:nvPr/>
        </p:nvSpPr>
        <p:spPr>
          <a:xfrm>
            <a:off x="9701577" y="2039814"/>
            <a:ext cx="1672737" cy="3604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4440E02D-D810-40C4-9F0A-B34F80515F91}"/>
              </a:ext>
            </a:extLst>
          </p:cNvPr>
          <p:cNvSpPr/>
          <p:nvPr/>
        </p:nvSpPr>
        <p:spPr>
          <a:xfrm>
            <a:off x="11438793" y="6084276"/>
            <a:ext cx="753208" cy="77372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CD8AC6E8-6BE5-403E-AA22-3D2924E00603}"/>
              </a:ext>
            </a:extLst>
          </p:cNvPr>
          <p:cNvSpPr/>
          <p:nvPr/>
        </p:nvSpPr>
        <p:spPr>
          <a:xfrm>
            <a:off x="10093569" y="5108334"/>
            <a:ext cx="965687" cy="74734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3AF30A22-5D64-4672-9691-20209CFC4C70}"/>
              </a:ext>
            </a:extLst>
          </p:cNvPr>
          <p:cNvSpPr/>
          <p:nvPr/>
        </p:nvSpPr>
        <p:spPr>
          <a:xfrm>
            <a:off x="10508273" y="5917232"/>
            <a:ext cx="550983" cy="42202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07AAA718-0D30-4C0B-A797-A5409EF55031}"/>
              </a:ext>
            </a:extLst>
          </p:cNvPr>
          <p:cNvSpPr/>
          <p:nvPr/>
        </p:nvSpPr>
        <p:spPr>
          <a:xfrm>
            <a:off x="8656026" y="4088426"/>
            <a:ext cx="550983" cy="42202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89DF0DD2-798E-4385-9FC4-6100D51F5EB6}"/>
              </a:ext>
            </a:extLst>
          </p:cNvPr>
          <p:cNvSpPr/>
          <p:nvPr/>
        </p:nvSpPr>
        <p:spPr>
          <a:xfrm>
            <a:off x="6585439" y="4088427"/>
            <a:ext cx="2019296" cy="10111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7285E1F4-0E69-43ED-940C-A6BF68903B3C}"/>
              </a:ext>
            </a:extLst>
          </p:cNvPr>
          <p:cNvSpPr/>
          <p:nvPr/>
        </p:nvSpPr>
        <p:spPr>
          <a:xfrm>
            <a:off x="7868044" y="501147"/>
            <a:ext cx="1833533" cy="41104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F9D08D76-A728-40BB-8510-4D99B501C07E}"/>
              </a:ext>
            </a:extLst>
          </p:cNvPr>
          <p:cNvSpPr/>
          <p:nvPr/>
        </p:nvSpPr>
        <p:spPr>
          <a:xfrm>
            <a:off x="9741877" y="5108334"/>
            <a:ext cx="306263" cy="3077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CBB2A0FC-A41B-4599-A6A1-CB19C01FA266}"/>
              </a:ext>
            </a:extLst>
          </p:cNvPr>
          <p:cNvSpPr/>
          <p:nvPr/>
        </p:nvSpPr>
        <p:spPr>
          <a:xfrm>
            <a:off x="7499838" y="4237904"/>
            <a:ext cx="1104896" cy="2725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5BF88AF7-D919-44CB-844B-05DD2BDE6D5F}"/>
              </a:ext>
            </a:extLst>
          </p:cNvPr>
          <p:cNvSpPr/>
          <p:nvPr/>
        </p:nvSpPr>
        <p:spPr>
          <a:xfrm>
            <a:off x="7895492" y="4569808"/>
            <a:ext cx="1000855" cy="21320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25F9F362-E8D7-4C7B-94ED-BD71681AA097}"/>
              </a:ext>
            </a:extLst>
          </p:cNvPr>
          <p:cNvSpPr/>
          <p:nvPr/>
        </p:nvSpPr>
        <p:spPr>
          <a:xfrm>
            <a:off x="8502161" y="4824779"/>
            <a:ext cx="704847" cy="1077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905DDBEC-F7F8-4606-8D60-806143B39C65}"/>
              </a:ext>
            </a:extLst>
          </p:cNvPr>
          <p:cNvSpPr/>
          <p:nvPr/>
        </p:nvSpPr>
        <p:spPr>
          <a:xfrm>
            <a:off x="9395315" y="5103941"/>
            <a:ext cx="306263" cy="19782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xmlns="" id="{6EA4848C-8D10-4247-A66C-FD3C865332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6396" y="1199497"/>
            <a:ext cx="2823771" cy="2829575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xmlns="" id="{0EF86A27-8E7F-4B83-9B8B-FB55F34274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1089" y="112083"/>
            <a:ext cx="733298" cy="830879"/>
          </a:xfrm>
          <a:prstGeom prst="rect">
            <a:avLst/>
          </a:prstGeom>
          <a:effectLst/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2AE9AA0B-94C8-4928-9B43-3ED75D348BA7}"/>
              </a:ext>
            </a:extLst>
          </p:cNvPr>
          <p:cNvSpPr/>
          <p:nvPr/>
        </p:nvSpPr>
        <p:spPr>
          <a:xfrm>
            <a:off x="9765322" y="123574"/>
            <a:ext cx="259371" cy="7886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xmlns="" id="{77E0E3AA-3A67-40B2-A148-DA1FCDDA7EA2}"/>
              </a:ext>
            </a:extLst>
          </p:cNvPr>
          <p:cNvSpPr/>
          <p:nvPr/>
        </p:nvSpPr>
        <p:spPr>
          <a:xfrm>
            <a:off x="10096497" y="250719"/>
            <a:ext cx="181711" cy="19766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xmlns="" id="{7C4A8EF3-DC0E-467F-9FAF-50F3411A0FBA}"/>
              </a:ext>
            </a:extLst>
          </p:cNvPr>
          <p:cNvSpPr/>
          <p:nvPr/>
        </p:nvSpPr>
        <p:spPr>
          <a:xfrm>
            <a:off x="2944125" y="321240"/>
            <a:ext cx="6757452" cy="12714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E6FEE48E-19E1-474F-8CDD-11CB568F9EF7}"/>
              </a:ext>
            </a:extLst>
          </p:cNvPr>
          <p:cNvSpPr/>
          <p:nvPr/>
        </p:nvSpPr>
        <p:spPr>
          <a:xfrm>
            <a:off x="6549176" y="136921"/>
            <a:ext cx="3152401" cy="1271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DF3FEF71-946C-4B05-A1C7-6DE56029FB74}"/>
              </a:ext>
            </a:extLst>
          </p:cNvPr>
          <p:cNvSpPr/>
          <p:nvPr/>
        </p:nvSpPr>
        <p:spPr>
          <a:xfrm>
            <a:off x="10096497" y="489308"/>
            <a:ext cx="420565" cy="4110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C4E3FD41-B007-4AAF-B9EE-051A1BA9E6A7}"/>
              </a:ext>
            </a:extLst>
          </p:cNvPr>
          <p:cNvSpPr/>
          <p:nvPr/>
        </p:nvSpPr>
        <p:spPr>
          <a:xfrm>
            <a:off x="7868044" y="964947"/>
            <a:ext cx="1833533" cy="22403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161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76C0CC1-71C6-4985-A6F0-02384E3EC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66" y="550715"/>
            <a:ext cx="9694984" cy="642827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C684E53-EC89-42A9-ADFB-62A33D087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925" y="1281345"/>
            <a:ext cx="11356664" cy="5217447"/>
          </a:xfrm>
        </p:spPr>
        <p:txBody>
          <a:bodyPr/>
          <a:lstStyle>
            <a:lvl1pPr>
              <a:buClr>
                <a:schemeClr val="accent1">
                  <a:lumMod val="75000"/>
                </a:schemeClr>
              </a:buClr>
              <a:defRPr/>
            </a:lvl1pPr>
            <a:lvl2pPr>
              <a:buClr>
                <a:schemeClr val="accent1">
                  <a:lumMod val="75000"/>
                </a:schemeClr>
              </a:buClr>
              <a:defRPr/>
            </a:lvl2pPr>
            <a:lvl3pPr>
              <a:buClr>
                <a:schemeClr val="accent1">
                  <a:lumMod val="75000"/>
                </a:schemeClr>
              </a:buClr>
              <a:defRPr/>
            </a:lvl3pPr>
            <a:lvl4pPr>
              <a:buClr>
                <a:schemeClr val="accent1">
                  <a:lumMod val="75000"/>
                </a:schemeClr>
              </a:buClr>
              <a:defRPr/>
            </a:lvl4pPr>
            <a:lvl5pPr>
              <a:buClr>
                <a:schemeClr val="accent1">
                  <a:lumMod val="75000"/>
                </a:schemeClr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0C43F56-11EF-4106-AE2A-A940DD5BA0E1}"/>
              </a:ext>
            </a:extLst>
          </p:cNvPr>
          <p:cNvSpPr/>
          <p:nvPr/>
        </p:nvSpPr>
        <p:spPr>
          <a:xfrm>
            <a:off x="10093570" y="973739"/>
            <a:ext cx="2098430" cy="21980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55EF5C26-DED6-4F6C-8102-A801F169E286}"/>
              </a:ext>
            </a:extLst>
          </p:cNvPr>
          <p:cNvSpPr/>
          <p:nvPr/>
        </p:nvSpPr>
        <p:spPr>
          <a:xfrm>
            <a:off x="11946309" y="2039815"/>
            <a:ext cx="245690" cy="398291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137A924D-F4C0-4373-B282-F56B6301C602}"/>
              </a:ext>
            </a:extLst>
          </p:cNvPr>
          <p:cNvSpPr/>
          <p:nvPr/>
        </p:nvSpPr>
        <p:spPr>
          <a:xfrm>
            <a:off x="11653285" y="2461847"/>
            <a:ext cx="223434" cy="15738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3104DAB2-58ED-4BD7-AA8C-AC986F3C0821}"/>
              </a:ext>
            </a:extLst>
          </p:cNvPr>
          <p:cNvSpPr/>
          <p:nvPr/>
        </p:nvSpPr>
        <p:spPr>
          <a:xfrm>
            <a:off x="11653284" y="1633160"/>
            <a:ext cx="538713" cy="34510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583958F0-561B-41D5-A60E-5D1FCCF204CF}"/>
              </a:ext>
            </a:extLst>
          </p:cNvPr>
          <p:cNvSpPr/>
          <p:nvPr/>
        </p:nvSpPr>
        <p:spPr>
          <a:xfrm>
            <a:off x="11653281" y="4097215"/>
            <a:ext cx="223435" cy="96715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EB1B6E69-8995-4EBB-B240-24C96CD14559}"/>
              </a:ext>
            </a:extLst>
          </p:cNvPr>
          <p:cNvSpPr/>
          <p:nvPr/>
        </p:nvSpPr>
        <p:spPr>
          <a:xfrm>
            <a:off x="11651543" y="5108335"/>
            <a:ext cx="223434" cy="91439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00227214-9793-44FA-8BB6-579B294CF5DE}"/>
              </a:ext>
            </a:extLst>
          </p:cNvPr>
          <p:cNvSpPr/>
          <p:nvPr/>
        </p:nvSpPr>
        <p:spPr>
          <a:xfrm>
            <a:off x="11653282" y="2039815"/>
            <a:ext cx="223435" cy="3604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7BD8F22B-17C5-4BE0-8CA0-BD50074F2B48}"/>
              </a:ext>
            </a:extLst>
          </p:cNvPr>
          <p:cNvSpPr/>
          <p:nvPr/>
        </p:nvSpPr>
        <p:spPr>
          <a:xfrm>
            <a:off x="11651543" y="6084276"/>
            <a:ext cx="540457" cy="7737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E2182CDC-A1B4-4FB6-A237-B5F43BC83D47}"/>
              </a:ext>
            </a:extLst>
          </p:cNvPr>
          <p:cNvSpPr/>
          <p:nvPr/>
        </p:nvSpPr>
        <p:spPr>
          <a:xfrm>
            <a:off x="10093569" y="574158"/>
            <a:ext cx="420565" cy="3380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CCE67DE1-4F81-4E94-A466-B5794CCEDC25}"/>
              </a:ext>
            </a:extLst>
          </p:cNvPr>
          <p:cNvSpPr/>
          <p:nvPr/>
        </p:nvSpPr>
        <p:spPr>
          <a:xfrm>
            <a:off x="9765322" y="973738"/>
            <a:ext cx="259371" cy="21980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2B0D6172-F9A8-489A-A819-56C45AA5D05B}"/>
              </a:ext>
            </a:extLst>
          </p:cNvPr>
          <p:cNvSpPr/>
          <p:nvPr/>
        </p:nvSpPr>
        <p:spPr>
          <a:xfrm>
            <a:off x="9765322" y="123574"/>
            <a:ext cx="259371" cy="7886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C8595149-54EE-497B-80A6-79564F3037D6}"/>
              </a:ext>
            </a:extLst>
          </p:cNvPr>
          <p:cNvSpPr/>
          <p:nvPr/>
        </p:nvSpPr>
        <p:spPr>
          <a:xfrm>
            <a:off x="10096497" y="123575"/>
            <a:ext cx="181711" cy="3627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B76B936E-3246-4B30-8640-5D8C821A94A9}"/>
              </a:ext>
            </a:extLst>
          </p:cNvPr>
          <p:cNvSpPr/>
          <p:nvPr/>
        </p:nvSpPr>
        <p:spPr>
          <a:xfrm>
            <a:off x="2944125" y="359208"/>
            <a:ext cx="6757452" cy="12714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FD55169F-AAE3-4891-84F2-AA4A62160608}"/>
              </a:ext>
            </a:extLst>
          </p:cNvPr>
          <p:cNvSpPr/>
          <p:nvPr/>
        </p:nvSpPr>
        <p:spPr>
          <a:xfrm>
            <a:off x="6549176" y="136921"/>
            <a:ext cx="3152401" cy="12714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F8C2BB5D-DA2B-4169-9EF6-1767BF0EBE17}"/>
              </a:ext>
            </a:extLst>
          </p:cNvPr>
          <p:cNvSpPr/>
          <p:nvPr/>
        </p:nvSpPr>
        <p:spPr>
          <a:xfrm>
            <a:off x="0" y="6585224"/>
            <a:ext cx="11557589" cy="27277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xmlns="" id="{DC4D3070-18C7-4C2D-8A2E-316FE89D88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4049" y="73950"/>
            <a:ext cx="860637" cy="862406"/>
          </a:xfrm>
          <a:prstGeom prst="rect">
            <a:avLst/>
          </a:prstGeom>
          <a:effectLst/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A9D2117D-A2EA-41AA-A0BE-BBBF299069D1}"/>
              </a:ext>
            </a:extLst>
          </p:cNvPr>
          <p:cNvSpPr/>
          <p:nvPr/>
        </p:nvSpPr>
        <p:spPr>
          <a:xfrm>
            <a:off x="11653284" y="1230926"/>
            <a:ext cx="538714" cy="34510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7F0B04A0-7413-4694-A75B-BECB223A81E7}"/>
              </a:ext>
            </a:extLst>
          </p:cNvPr>
          <p:cNvSpPr/>
          <p:nvPr/>
        </p:nvSpPr>
        <p:spPr>
          <a:xfrm>
            <a:off x="10579360" y="705472"/>
            <a:ext cx="331174" cy="21980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B25979D-934C-4E97-8964-07CF704924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0925" y="6585224"/>
            <a:ext cx="1733383" cy="272776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524633A-0564-49B3-913D-CEE92112E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82537" y="6585224"/>
            <a:ext cx="6626927" cy="272776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fr-FR"/>
              <a:t>LANCEMENT DE LA PHASE I DE LA COUVERTURE SANTE UNIVERSELLE PHASE I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2B27DC9-AB25-4C37-835A-3C94B5F37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65322" y="6585224"/>
            <a:ext cx="1588478" cy="272776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9DFD2622-852A-49C3-8C07-9BFA06B2C0A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859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76C0CC1-71C6-4985-A6F0-02384E3EC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66" y="550715"/>
            <a:ext cx="9694984" cy="642827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0C43F56-11EF-4106-AE2A-A940DD5BA0E1}"/>
              </a:ext>
            </a:extLst>
          </p:cNvPr>
          <p:cNvSpPr/>
          <p:nvPr/>
        </p:nvSpPr>
        <p:spPr>
          <a:xfrm>
            <a:off x="10093570" y="973739"/>
            <a:ext cx="2098430" cy="21980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55EF5C26-DED6-4F6C-8102-A801F169E286}"/>
              </a:ext>
            </a:extLst>
          </p:cNvPr>
          <p:cNvSpPr/>
          <p:nvPr/>
        </p:nvSpPr>
        <p:spPr>
          <a:xfrm>
            <a:off x="11946309" y="2039815"/>
            <a:ext cx="245690" cy="398291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137A924D-F4C0-4373-B282-F56B6301C602}"/>
              </a:ext>
            </a:extLst>
          </p:cNvPr>
          <p:cNvSpPr/>
          <p:nvPr/>
        </p:nvSpPr>
        <p:spPr>
          <a:xfrm>
            <a:off x="11653285" y="2461847"/>
            <a:ext cx="223434" cy="15738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3104DAB2-58ED-4BD7-AA8C-AC986F3C0821}"/>
              </a:ext>
            </a:extLst>
          </p:cNvPr>
          <p:cNvSpPr/>
          <p:nvPr/>
        </p:nvSpPr>
        <p:spPr>
          <a:xfrm>
            <a:off x="11653284" y="1633160"/>
            <a:ext cx="538713" cy="34510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583958F0-561B-41D5-A60E-5D1FCCF204CF}"/>
              </a:ext>
            </a:extLst>
          </p:cNvPr>
          <p:cNvSpPr/>
          <p:nvPr/>
        </p:nvSpPr>
        <p:spPr>
          <a:xfrm>
            <a:off x="11653281" y="4097215"/>
            <a:ext cx="223435" cy="96715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EB1B6E69-8995-4EBB-B240-24C96CD14559}"/>
              </a:ext>
            </a:extLst>
          </p:cNvPr>
          <p:cNvSpPr/>
          <p:nvPr/>
        </p:nvSpPr>
        <p:spPr>
          <a:xfrm>
            <a:off x="11651543" y="5108335"/>
            <a:ext cx="223434" cy="91439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00227214-9793-44FA-8BB6-579B294CF5DE}"/>
              </a:ext>
            </a:extLst>
          </p:cNvPr>
          <p:cNvSpPr/>
          <p:nvPr/>
        </p:nvSpPr>
        <p:spPr>
          <a:xfrm>
            <a:off x="11653282" y="2039815"/>
            <a:ext cx="223435" cy="3604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7BD8F22B-17C5-4BE0-8CA0-BD50074F2B48}"/>
              </a:ext>
            </a:extLst>
          </p:cNvPr>
          <p:cNvSpPr/>
          <p:nvPr/>
        </p:nvSpPr>
        <p:spPr>
          <a:xfrm>
            <a:off x="11651543" y="6084276"/>
            <a:ext cx="540457" cy="7737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E2182CDC-A1B4-4FB6-A237-B5F43BC83D47}"/>
              </a:ext>
            </a:extLst>
          </p:cNvPr>
          <p:cNvSpPr/>
          <p:nvPr/>
        </p:nvSpPr>
        <p:spPr>
          <a:xfrm>
            <a:off x="10093569" y="574158"/>
            <a:ext cx="420565" cy="3380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CCE67DE1-4F81-4E94-A466-B5794CCEDC25}"/>
              </a:ext>
            </a:extLst>
          </p:cNvPr>
          <p:cNvSpPr/>
          <p:nvPr/>
        </p:nvSpPr>
        <p:spPr>
          <a:xfrm>
            <a:off x="9765322" y="973738"/>
            <a:ext cx="259371" cy="21980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2B0D6172-F9A8-489A-A819-56C45AA5D05B}"/>
              </a:ext>
            </a:extLst>
          </p:cNvPr>
          <p:cNvSpPr/>
          <p:nvPr/>
        </p:nvSpPr>
        <p:spPr>
          <a:xfrm>
            <a:off x="9765322" y="123574"/>
            <a:ext cx="259371" cy="7886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C8595149-54EE-497B-80A6-79564F3037D6}"/>
              </a:ext>
            </a:extLst>
          </p:cNvPr>
          <p:cNvSpPr/>
          <p:nvPr/>
        </p:nvSpPr>
        <p:spPr>
          <a:xfrm>
            <a:off x="10096497" y="123575"/>
            <a:ext cx="181711" cy="3627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B76B936E-3246-4B30-8640-5D8C821A94A9}"/>
              </a:ext>
            </a:extLst>
          </p:cNvPr>
          <p:cNvSpPr/>
          <p:nvPr/>
        </p:nvSpPr>
        <p:spPr>
          <a:xfrm>
            <a:off x="2944125" y="359208"/>
            <a:ext cx="6757452" cy="12714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FD55169F-AAE3-4891-84F2-AA4A62160608}"/>
              </a:ext>
            </a:extLst>
          </p:cNvPr>
          <p:cNvSpPr/>
          <p:nvPr/>
        </p:nvSpPr>
        <p:spPr>
          <a:xfrm>
            <a:off x="6549176" y="136921"/>
            <a:ext cx="3152401" cy="12714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F8C2BB5D-DA2B-4169-9EF6-1767BF0EBE17}"/>
              </a:ext>
            </a:extLst>
          </p:cNvPr>
          <p:cNvSpPr/>
          <p:nvPr/>
        </p:nvSpPr>
        <p:spPr>
          <a:xfrm>
            <a:off x="0" y="6585224"/>
            <a:ext cx="11557589" cy="27277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xmlns="" id="{DC4D3070-18C7-4C2D-8A2E-316FE89D88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4049" y="73950"/>
            <a:ext cx="860637" cy="862406"/>
          </a:xfrm>
          <a:prstGeom prst="rect">
            <a:avLst/>
          </a:prstGeom>
          <a:effectLst/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A9D2117D-A2EA-41AA-A0BE-BBBF299069D1}"/>
              </a:ext>
            </a:extLst>
          </p:cNvPr>
          <p:cNvSpPr/>
          <p:nvPr/>
        </p:nvSpPr>
        <p:spPr>
          <a:xfrm>
            <a:off x="11653284" y="1230926"/>
            <a:ext cx="538714" cy="34510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7F0B04A0-7413-4694-A75B-BECB223A81E7}"/>
              </a:ext>
            </a:extLst>
          </p:cNvPr>
          <p:cNvSpPr/>
          <p:nvPr/>
        </p:nvSpPr>
        <p:spPr>
          <a:xfrm>
            <a:off x="10579360" y="705472"/>
            <a:ext cx="331174" cy="21980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B25979D-934C-4E97-8964-07CF704924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0925" y="6585224"/>
            <a:ext cx="1733383" cy="272776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524633A-0564-49B3-913D-CEE92112E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82537" y="6585224"/>
            <a:ext cx="6626927" cy="272776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fr-FR"/>
              <a:t>LANCEMENT DE LA PHASE I DE LA COUVERTURE SANTE UNIVERSELLE PHASE I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2B27DC9-AB25-4C37-835A-3C94B5F37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65322" y="6585224"/>
            <a:ext cx="1588478" cy="272776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9DFD2622-852A-49C3-8C07-9BFA06B2C0A4}" type="slidenum">
              <a:rPr lang="en-US" smtClean="0"/>
              <a:t>‹N°›</a:t>
            </a:fld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xmlns="" id="{426F09D3-36B8-4E80-B8AE-EE104E3D9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3643" y="1307628"/>
            <a:ext cx="5442060" cy="823912"/>
          </a:xfrm>
          <a:solidFill>
            <a:schemeClr val="accent6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xmlns="" id="{E907B341-F17D-4DB0-A308-D741814A85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3643" y="2245626"/>
            <a:ext cx="5442060" cy="4225512"/>
          </a:xfrm>
        </p:spPr>
        <p:txBody>
          <a:bodyPr/>
          <a:lstStyle>
            <a:lvl1pPr>
              <a:buClr>
                <a:schemeClr val="accent1">
                  <a:lumMod val="75000"/>
                </a:schemeClr>
              </a:buClr>
              <a:defRPr/>
            </a:lvl1pPr>
            <a:lvl2pPr>
              <a:buClr>
                <a:schemeClr val="accent1">
                  <a:lumMod val="75000"/>
                </a:schemeClr>
              </a:buClr>
              <a:defRPr/>
            </a:lvl2pPr>
            <a:lvl3pPr>
              <a:buClr>
                <a:schemeClr val="accent1">
                  <a:lumMod val="75000"/>
                </a:schemeClr>
              </a:buClr>
              <a:defRPr/>
            </a:lvl3pPr>
            <a:lvl4pPr>
              <a:buClr>
                <a:schemeClr val="accent1">
                  <a:lumMod val="75000"/>
                </a:schemeClr>
              </a:buClr>
              <a:defRPr/>
            </a:lvl4pPr>
            <a:lvl5pPr>
              <a:buClr>
                <a:schemeClr val="accent1">
                  <a:lumMod val="75000"/>
                </a:schemeClr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xmlns="" id="{71CF3117-293D-4491-8A4F-E393409577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42012" y="1307628"/>
            <a:ext cx="5411788" cy="823912"/>
          </a:xfrm>
          <a:solidFill>
            <a:schemeClr val="accent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xmlns="" id="{72B04B14-830A-42D7-97C0-CB645350BF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43600" y="2245624"/>
            <a:ext cx="5411788" cy="4253167"/>
          </a:xfrm>
        </p:spPr>
        <p:txBody>
          <a:bodyPr/>
          <a:lstStyle>
            <a:lvl1pPr>
              <a:buClr>
                <a:schemeClr val="accent1">
                  <a:lumMod val="75000"/>
                </a:schemeClr>
              </a:buClr>
              <a:defRPr/>
            </a:lvl1pPr>
            <a:lvl2pPr>
              <a:buClr>
                <a:schemeClr val="accent1">
                  <a:lumMod val="75000"/>
                </a:schemeClr>
              </a:buClr>
              <a:defRPr/>
            </a:lvl2pPr>
            <a:lvl3pPr>
              <a:buClr>
                <a:schemeClr val="accent1">
                  <a:lumMod val="75000"/>
                </a:schemeClr>
              </a:buClr>
              <a:defRPr/>
            </a:lvl3pPr>
            <a:lvl4pPr>
              <a:buClr>
                <a:schemeClr val="accent1">
                  <a:lumMod val="75000"/>
                </a:schemeClr>
              </a:buClr>
              <a:defRPr/>
            </a:lvl4pPr>
            <a:lvl5pPr>
              <a:buClr>
                <a:schemeClr val="accent1">
                  <a:lumMod val="75000"/>
                </a:schemeClr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070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76C0CC1-71C6-4985-A6F0-02384E3EC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156" y="1237345"/>
            <a:ext cx="9198950" cy="2809318"/>
          </a:xfrm>
          <a:noFill/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7200" b="1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64273274-863D-43C9-BDE5-34274F97288B}"/>
              </a:ext>
            </a:extLst>
          </p:cNvPr>
          <p:cNvSpPr/>
          <p:nvPr/>
        </p:nvSpPr>
        <p:spPr>
          <a:xfrm>
            <a:off x="8947638" y="4563211"/>
            <a:ext cx="259371" cy="2198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xmlns="" id="{0D992070-CEA5-4952-9F51-376D0B957C0C}"/>
              </a:ext>
            </a:extLst>
          </p:cNvPr>
          <p:cNvSpPr/>
          <p:nvPr/>
        </p:nvSpPr>
        <p:spPr>
          <a:xfrm>
            <a:off x="9765322" y="973738"/>
            <a:ext cx="259371" cy="21980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xmlns="" id="{785C5F64-67C8-48D6-9EDC-0B9D8D892799}"/>
              </a:ext>
            </a:extLst>
          </p:cNvPr>
          <p:cNvSpPr/>
          <p:nvPr/>
        </p:nvSpPr>
        <p:spPr>
          <a:xfrm>
            <a:off x="10093570" y="973738"/>
            <a:ext cx="2098430" cy="60666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91626998-9295-45D4-AD5F-E872D35D36C2}"/>
              </a:ext>
            </a:extLst>
          </p:cNvPr>
          <p:cNvSpPr/>
          <p:nvPr/>
        </p:nvSpPr>
        <p:spPr>
          <a:xfrm>
            <a:off x="11438792" y="2039815"/>
            <a:ext cx="753207" cy="398291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xmlns="" id="{4373D1C1-170B-4E17-BC0F-734E6D31E0B2}"/>
              </a:ext>
            </a:extLst>
          </p:cNvPr>
          <p:cNvSpPr/>
          <p:nvPr/>
        </p:nvSpPr>
        <p:spPr>
          <a:xfrm>
            <a:off x="10163908" y="2461846"/>
            <a:ext cx="1210407" cy="15738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xmlns="" id="{A7D39665-76AC-48FC-9C2A-C27A28FA7BBE}"/>
              </a:ext>
            </a:extLst>
          </p:cNvPr>
          <p:cNvSpPr/>
          <p:nvPr/>
        </p:nvSpPr>
        <p:spPr>
          <a:xfrm>
            <a:off x="9592408" y="1255090"/>
            <a:ext cx="436681" cy="3011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AB48F9DC-E500-4B87-9827-94DF92D569DE}"/>
              </a:ext>
            </a:extLst>
          </p:cNvPr>
          <p:cNvSpPr/>
          <p:nvPr/>
        </p:nvSpPr>
        <p:spPr>
          <a:xfrm>
            <a:off x="9478106" y="1617786"/>
            <a:ext cx="2713893" cy="360484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0B62DA52-CD5E-4DF9-8DE0-3EC28791C227}"/>
              </a:ext>
            </a:extLst>
          </p:cNvPr>
          <p:cNvSpPr/>
          <p:nvPr/>
        </p:nvSpPr>
        <p:spPr>
          <a:xfrm>
            <a:off x="9258300" y="4088426"/>
            <a:ext cx="2136529" cy="96715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8AE3AC8A-B954-4778-8664-358758455EF5}"/>
              </a:ext>
            </a:extLst>
          </p:cNvPr>
          <p:cNvSpPr/>
          <p:nvPr/>
        </p:nvSpPr>
        <p:spPr>
          <a:xfrm>
            <a:off x="11104685" y="5108334"/>
            <a:ext cx="290144" cy="174966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xmlns="" id="{0E43DD9D-1DC6-4AD3-9975-D479B938A3BE}"/>
              </a:ext>
            </a:extLst>
          </p:cNvPr>
          <p:cNvSpPr/>
          <p:nvPr/>
        </p:nvSpPr>
        <p:spPr>
          <a:xfrm>
            <a:off x="9701577" y="2039814"/>
            <a:ext cx="1672737" cy="3604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xmlns="" id="{3B1A9C21-D4A7-448C-AC04-F4A329AB81BD}"/>
              </a:ext>
            </a:extLst>
          </p:cNvPr>
          <p:cNvSpPr/>
          <p:nvPr/>
        </p:nvSpPr>
        <p:spPr>
          <a:xfrm>
            <a:off x="11438793" y="6084276"/>
            <a:ext cx="753208" cy="77372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xmlns="" id="{E63141D6-28A1-402A-A256-084BB3145365}"/>
              </a:ext>
            </a:extLst>
          </p:cNvPr>
          <p:cNvSpPr/>
          <p:nvPr/>
        </p:nvSpPr>
        <p:spPr>
          <a:xfrm>
            <a:off x="10093569" y="5108334"/>
            <a:ext cx="965687" cy="74734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xmlns="" id="{004F8A07-929C-43C0-B479-765A56BF44CD}"/>
              </a:ext>
            </a:extLst>
          </p:cNvPr>
          <p:cNvSpPr/>
          <p:nvPr/>
        </p:nvSpPr>
        <p:spPr>
          <a:xfrm>
            <a:off x="10508273" y="5917232"/>
            <a:ext cx="550983" cy="42202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xmlns="" id="{BA9765CA-1590-4C72-A5C6-CCB850BF312B}"/>
              </a:ext>
            </a:extLst>
          </p:cNvPr>
          <p:cNvSpPr/>
          <p:nvPr/>
        </p:nvSpPr>
        <p:spPr>
          <a:xfrm>
            <a:off x="8656026" y="4088426"/>
            <a:ext cx="550983" cy="42202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xmlns="" id="{F1A657ED-AD23-4C62-81C8-7A637FB88D5A}"/>
              </a:ext>
            </a:extLst>
          </p:cNvPr>
          <p:cNvSpPr/>
          <p:nvPr/>
        </p:nvSpPr>
        <p:spPr>
          <a:xfrm>
            <a:off x="6585439" y="4088427"/>
            <a:ext cx="2019296" cy="10111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xmlns="" id="{CFE285FC-3B6F-4A5B-BB0E-8B8BC6779DAB}"/>
              </a:ext>
            </a:extLst>
          </p:cNvPr>
          <p:cNvSpPr/>
          <p:nvPr/>
        </p:nvSpPr>
        <p:spPr>
          <a:xfrm>
            <a:off x="7868044" y="501147"/>
            <a:ext cx="1833533" cy="41104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xmlns="" id="{177E1853-26A1-43B7-B674-DC2EBF1F852D}"/>
              </a:ext>
            </a:extLst>
          </p:cNvPr>
          <p:cNvSpPr/>
          <p:nvPr/>
        </p:nvSpPr>
        <p:spPr>
          <a:xfrm>
            <a:off x="9741877" y="5108334"/>
            <a:ext cx="306263" cy="3077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xmlns="" id="{571836FA-A124-499C-85DF-A8D22CC9EF07}"/>
              </a:ext>
            </a:extLst>
          </p:cNvPr>
          <p:cNvSpPr/>
          <p:nvPr/>
        </p:nvSpPr>
        <p:spPr>
          <a:xfrm>
            <a:off x="7499838" y="4237904"/>
            <a:ext cx="1104896" cy="2725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xmlns="" id="{F6B3926D-FDD2-4685-802B-164D47269A45}"/>
              </a:ext>
            </a:extLst>
          </p:cNvPr>
          <p:cNvSpPr/>
          <p:nvPr/>
        </p:nvSpPr>
        <p:spPr>
          <a:xfrm>
            <a:off x="7895492" y="4569808"/>
            <a:ext cx="1000855" cy="21320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xmlns="" id="{909330BA-8D21-44E1-9702-D6A2756D0B52}"/>
              </a:ext>
            </a:extLst>
          </p:cNvPr>
          <p:cNvSpPr/>
          <p:nvPr/>
        </p:nvSpPr>
        <p:spPr>
          <a:xfrm>
            <a:off x="8502161" y="4824779"/>
            <a:ext cx="704847" cy="1077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xmlns="" id="{011D248D-472C-4FD9-8A83-0144CB6189BD}"/>
              </a:ext>
            </a:extLst>
          </p:cNvPr>
          <p:cNvSpPr/>
          <p:nvPr/>
        </p:nvSpPr>
        <p:spPr>
          <a:xfrm>
            <a:off x="9395315" y="5103941"/>
            <a:ext cx="306263" cy="19782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xmlns="" id="{EEE110EB-AC4A-4C86-AC83-17DE6A8CA9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72" y="3842766"/>
            <a:ext cx="2828406" cy="2834220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xmlns="" id="{32272DA4-5025-4F7D-B292-96503092E093}"/>
              </a:ext>
            </a:extLst>
          </p:cNvPr>
          <p:cNvSpPr/>
          <p:nvPr/>
        </p:nvSpPr>
        <p:spPr>
          <a:xfrm>
            <a:off x="9765322" y="123574"/>
            <a:ext cx="259371" cy="7886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xmlns="" id="{806EDEC5-C4D8-4586-8E7F-94E4E102AE74}"/>
              </a:ext>
            </a:extLst>
          </p:cNvPr>
          <p:cNvSpPr/>
          <p:nvPr/>
        </p:nvSpPr>
        <p:spPr>
          <a:xfrm>
            <a:off x="10096497" y="250719"/>
            <a:ext cx="181711" cy="19766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xmlns="" id="{ADA341C3-495E-4507-9EEB-6FA0B5EFE656}"/>
              </a:ext>
            </a:extLst>
          </p:cNvPr>
          <p:cNvSpPr/>
          <p:nvPr/>
        </p:nvSpPr>
        <p:spPr>
          <a:xfrm>
            <a:off x="2944125" y="321240"/>
            <a:ext cx="6757452" cy="12714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xmlns="" id="{DB05D3F4-7B90-437E-8446-EAB6044C5FAA}"/>
              </a:ext>
            </a:extLst>
          </p:cNvPr>
          <p:cNvSpPr/>
          <p:nvPr/>
        </p:nvSpPr>
        <p:spPr>
          <a:xfrm>
            <a:off x="6549176" y="136921"/>
            <a:ext cx="3152401" cy="1271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xmlns="" id="{BEE20CEC-D240-4AA4-B0B5-804A88C6E38E}"/>
              </a:ext>
            </a:extLst>
          </p:cNvPr>
          <p:cNvSpPr/>
          <p:nvPr/>
        </p:nvSpPr>
        <p:spPr>
          <a:xfrm>
            <a:off x="10096497" y="489308"/>
            <a:ext cx="420565" cy="4110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xmlns="" id="{377154A8-F4FC-4F11-8500-E3D5787A41F2}"/>
              </a:ext>
            </a:extLst>
          </p:cNvPr>
          <p:cNvSpPr/>
          <p:nvPr/>
        </p:nvSpPr>
        <p:spPr>
          <a:xfrm>
            <a:off x="7868044" y="964947"/>
            <a:ext cx="1833533" cy="22403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820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38E203AC-29CB-46D1-A46C-499D57F8C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DE17380-EC24-49D0-9D24-C531235836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99BDEF5-2C7F-4DA1-8EDD-98DFAF6B7B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7662514-A6A3-4D18-9AA1-99EA9235B6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LANCEMENT DE LA PHASE I DE LA COUVERTURE SANTE UNIVERSELLE PHASE I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049576A-B59C-4DC7-8A00-64A456F0FA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FD2622-852A-49C3-8C07-9BFA06B2C0A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152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EE7161-27F0-4634-9FA3-E0F9A6FAE5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3046" y="1188060"/>
            <a:ext cx="6012493" cy="2985112"/>
          </a:xfrm>
        </p:spPr>
        <p:txBody>
          <a:bodyPr anchor="ctr">
            <a:noAutofit/>
          </a:bodyPr>
          <a:lstStyle/>
          <a:p>
            <a:r>
              <a:rPr lang="fr-FR" sz="3200" dirty="0"/>
              <a:t>POINT SUR L’EVOLUTION DU DEPLOIEMENT DE LA CSU PHASE I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A2A5461-93AF-4D89-9ABD-60C6F6200A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5832" y="4587387"/>
            <a:ext cx="6358324" cy="767128"/>
          </a:xfrm>
        </p:spPr>
        <p:txBody>
          <a:bodyPr>
            <a:normAutofit/>
          </a:bodyPr>
          <a:lstStyle/>
          <a:p>
            <a:r>
              <a:rPr lang="fr-FR" dirty="0">
                <a:latin typeface="Arial Black" panose="020B0A04020102020204" pitchFamily="34" charset="0"/>
              </a:rPr>
              <a:t>CTN-CSU</a:t>
            </a:r>
            <a:endParaRPr lang="en-US" dirty="0">
              <a:latin typeface="Arial Black" panose="020B0A040201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6FD66B6E-0607-4A49-A7DF-AE71F4933B7E}"/>
              </a:ext>
            </a:extLst>
          </p:cNvPr>
          <p:cNvCxnSpPr/>
          <p:nvPr/>
        </p:nvCxnSpPr>
        <p:spPr>
          <a:xfrm>
            <a:off x="325315" y="4519243"/>
            <a:ext cx="6383216" cy="0"/>
          </a:xfrm>
          <a:prstGeom prst="line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btitle 2">
            <a:extLst>
              <a:ext uri="{FF2B5EF4-FFF2-40B4-BE49-F238E27FC236}">
                <a16:creationId xmlns:a16="http://schemas.microsoft.com/office/drawing/2014/main" xmlns="" id="{8BBB3B82-93EC-4038-A4EF-6EDE00D72AB0}"/>
              </a:ext>
            </a:extLst>
          </p:cNvPr>
          <p:cNvSpPr txBox="1">
            <a:spLocks/>
          </p:cNvSpPr>
          <p:nvPr/>
        </p:nvSpPr>
        <p:spPr>
          <a:xfrm>
            <a:off x="2694824" y="6138003"/>
            <a:ext cx="6358324" cy="433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>
                <a:latin typeface="Arial Black" panose="020B0A04020102020204" pitchFamily="34" charset="0"/>
              </a:rPr>
              <a:t>Lundi 07 Aout 2023</a:t>
            </a:r>
            <a:endParaRPr lang="en-US" sz="2000" dirty="0">
              <a:latin typeface="Arial Black" panose="020B0A040201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0C1B3CC5-C8EC-442F-87A2-89A63401E685}"/>
              </a:ext>
            </a:extLst>
          </p:cNvPr>
          <p:cNvCxnSpPr/>
          <p:nvPr/>
        </p:nvCxnSpPr>
        <p:spPr>
          <a:xfrm>
            <a:off x="320940" y="5372096"/>
            <a:ext cx="6383216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1069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8E55252D-7C34-408A-9A1F-020FF04642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7568073"/>
              </p:ext>
            </p:extLst>
          </p:nvPr>
        </p:nvGraphicFramePr>
        <p:xfrm>
          <a:off x="-1466" y="866870"/>
          <a:ext cx="11651274" cy="34234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4AE6DE12-0E8A-4B6B-95DC-DF4BFE50F84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5917" y="3175065"/>
            <a:ext cx="5370350" cy="3414008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B08D4C22-EBC7-4875-8B94-4BA24CAEE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2023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D7899BBB-C95D-453A-833B-3086AF52D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LANCEMENT DE LA PHASE I DE LA COUVERTURE SANTE UNIVERSELLE PHASE I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0AC90714-5964-4B51-B477-F89169FFF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2622-852A-49C3-8C07-9BFA06B2C0A4}" type="slidenum">
              <a:rPr lang="en-US" smtClean="0"/>
              <a:t>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CE9F18-FC78-4F30-BC84-27933C0EA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PLAN DE 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369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3172AEFD-7A54-4F2C-B048-20240FE7D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Objectifs</a:t>
            </a:r>
            <a:r>
              <a:rPr lang="en-US" dirty="0"/>
              <a:t> (rappel)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7CDE0D0-007A-49E2-AC6D-55C168E8E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4E28329-9CB9-47A0-8A01-3E740251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LANCEMENT DE LA PHASE I DE LA COUVERTURE SANTE UNIVERSELLE PHASE I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5FA8A1F5-B7FB-40BD-9F15-4C0153CB77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3643" y="1307628"/>
            <a:ext cx="5442060" cy="566892"/>
          </a:xfrm>
        </p:spPr>
        <p:txBody>
          <a:bodyPr/>
          <a:lstStyle/>
          <a:p>
            <a:r>
              <a:rPr lang="fr-FR" dirty="0"/>
              <a:t>Objectif général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786109A7-B0C9-4A6E-A282-47B4FE60FD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3643" y="1920239"/>
            <a:ext cx="5442060" cy="2234565"/>
          </a:xfrm>
          <a:ln w="19050">
            <a:solidFill>
              <a:srgbClr val="00B050"/>
            </a:solidFill>
            <a:prstDash val="dash"/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sz="2400" dirty="0"/>
              <a:t>Augmenter l’</a:t>
            </a:r>
            <a:r>
              <a:rPr lang="fr-FR" sz="2400" dirty="0">
                <a:solidFill>
                  <a:srgbClr val="FF0000"/>
                </a:solidFill>
              </a:rPr>
              <a:t>accès et l’utilisation des services </a:t>
            </a:r>
            <a:r>
              <a:rPr lang="fr-FR" sz="2400" dirty="0"/>
              <a:t>couverts par la CSU phase I à travers la levée des </a:t>
            </a:r>
            <a:r>
              <a:rPr lang="fr-FR" sz="2400" dirty="0">
                <a:solidFill>
                  <a:srgbClr val="FF0000"/>
                </a:solidFill>
              </a:rPr>
              <a:t>barrières financières </a:t>
            </a:r>
            <a:r>
              <a:rPr lang="fr-FR" sz="2400" dirty="0"/>
              <a:t>et l’amélioration de la </a:t>
            </a:r>
            <a:r>
              <a:rPr lang="fr-FR" sz="2400" dirty="0">
                <a:solidFill>
                  <a:srgbClr val="FF0000"/>
                </a:solidFill>
              </a:rPr>
              <a:t>qualité des soins </a:t>
            </a:r>
            <a:r>
              <a:rPr lang="fr-FR" sz="2400" dirty="0"/>
              <a:t>au Cameroun.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3D66FE65-9527-48BD-BEF6-1FCC7FCC8E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42012" y="1307628"/>
            <a:ext cx="5411788" cy="566892"/>
          </a:xfrm>
        </p:spPr>
        <p:txBody>
          <a:bodyPr/>
          <a:lstStyle/>
          <a:p>
            <a:r>
              <a:rPr lang="fr-FR" dirty="0"/>
              <a:t>Objectifs spécifiques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xmlns="" id="{6CD0517D-3614-4C54-9290-7749A797F9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09022" y="1955181"/>
            <a:ext cx="5444778" cy="2199624"/>
          </a:xfrm>
          <a:ln w="19050">
            <a:solidFill>
              <a:schemeClr val="accent1"/>
            </a:solidFill>
            <a:prstDash val="dash"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b="1" dirty="0"/>
              <a:t>D’ici 2025</a:t>
            </a:r>
          </a:p>
          <a:p>
            <a:pPr marL="571500"/>
            <a:r>
              <a:rPr lang="fr-FR" sz="2000" dirty="0"/>
              <a:t>Couvrir 60 % des cibles de la Phase I ;</a:t>
            </a:r>
          </a:p>
          <a:p>
            <a:pPr marL="571500"/>
            <a:r>
              <a:rPr lang="fr-FR" sz="2000" dirty="0"/>
              <a:t>Couvrir 60% des cibles prioritaires de la Phase I en services offerts ;</a:t>
            </a:r>
          </a:p>
          <a:p>
            <a:pPr marL="571500"/>
            <a:r>
              <a:rPr lang="fr-FR" sz="2000" dirty="0"/>
              <a:t>Réduire le paiement direct lié à l’utilisation des services de santé couverts par les cibles. 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xmlns="" id="{605DCCDE-E3C2-4C25-A131-DFE3CAF5A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2622-852A-49C3-8C07-9BFA06B2C0A4}" type="slidenum">
              <a:rPr lang="en-US" smtClean="0"/>
              <a:t>3</a:t>
            </a:fld>
            <a:endParaRPr lang="en-US"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xmlns="" id="{6CD0517D-3614-4C54-9290-7749A797F937}"/>
              </a:ext>
            </a:extLst>
          </p:cNvPr>
          <p:cNvSpPr txBox="1">
            <a:spLocks/>
          </p:cNvSpPr>
          <p:nvPr/>
        </p:nvSpPr>
        <p:spPr>
          <a:xfrm>
            <a:off x="200926" y="4440186"/>
            <a:ext cx="11164304" cy="2103685"/>
          </a:xfrm>
          <a:prstGeom prst="rect">
            <a:avLst/>
          </a:prstGeom>
          <a:ln w="19050">
            <a:solidFill>
              <a:schemeClr val="accent1"/>
            </a:solidFill>
            <a:prstDash val="dash"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2000" b="1" dirty="0"/>
              <a:t>D’ici </a:t>
            </a:r>
            <a:r>
              <a:rPr lang="fr-FR" sz="2000" b="1" dirty="0">
                <a:solidFill>
                  <a:srgbClr val="FF0000"/>
                </a:solidFill>
              </a:rPr>
              <a:t>94</a:t>
            </a:r>
            <a:r>
              <a:rPr lang="fr-FR" sz="2000" b="1" dirty="0"/>
              <a:t> jours (25 Août 2023)</a:t>
            </a:r>
          </a:p>
          <a:p>
            <a:pPr marL="571500"/>
            <a:r>
              <a:rPr lang="fr-FR" sz="2000" dirty="0"/>
              <a:t>Accroître de 40% le taux d'enrôlement des cibles de la phase 1 de la CSU</a:t>
            </a:r>
          </a:p>
          <a:p>
            <a:pPr marL="571500"/>
            <a:r>
              <a:rPr lang="fr-FR" sz="2000" dirty="0"/>
              <a:t>Réduire de 50 % les ruptures de stock des intrants dans les FOSA</a:t>
            </a:r>
          </a:p>
          <a:p>
            <a:pPr marL="571500"/>
            <a:r>
              <a:rPr lang="fr-CM" sz="2000" dirty="0"/>
              <a:t>Décaisser au moins 50% des ressources mobilisées pour la mise en œuvre de la CSU</a:t>
            </a:r>
          </a:p>
          <a:p>
            <a:pPr marL="571500"/>
            <a:r>
              <a:rPr lang="fr-CM" sz="2000" dirty="0"/>
              <a:t>Régulariser au moins 80% des arriérés des structures de santé</a:t>
            </a:r>
            <a:r>
              <a:rPr lang="fr-FR" sz="2000" dirty="0"/>
              <a:t>(chèque santé, PBF, User </a:t>
            </a:r>
            <a:r>
              <a:rPr lang="fr-FR" sz="2000" dirty="0" err="1"/>
              <a:t>fees</a:t>
            </a:r>
            <a:r>
              <a:rPr lang="fr-FR" sz="2000" dirty="0"/>
              <a:t>) 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xmlns="" id="{5FA8A1F5-B7FB-40BD-9F15-4C0153CB7746}"/>
              </a:ext>
            </a:extLst>
          </p:cNvPr>
          <p:cNvSpPr txBox="1">
            <a:spLocks/>
          </p:cNvSpPr>
          <p:nvPr/>
        </p:nvSpPr>
        <p:spPr>
          <a:xfrm>
            <a:off x="3062048" y="4058867"/>
            <a:ext cx="5442060" cy="381318"/>
          </a:xfrm>
          <a:prstGeom prst="rect">
            <a:avLst/>
          </a:prstGeom>
          <a:solidFill>
            <a:schemeClr val="accent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Objectifs Opérationnels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403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BB1BBDD-5EFB-4DCE-A645-EBB0788B2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Enrôlement CSU : Statistiques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3CD80F0-8A15-492D-92C4-9402EAAA1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LANCEMENT DE LA PHASE I DE LA COUVERTURE SANTE UNIVERSELLE PHASE I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A7726B9-49C0-4973-B44A-4EFAC7680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782" y="1271491"/>
            <a:ext cx="5442060" cy="422797"/>
          </a:xfrm>
        </p:spPr>
        <p:txBody>
          <a:bodyPr/>
          <a:lstStyle/>
          <a:p>
            <a:r>
              <a:rPr lang="fr-FR" dirty="0"/>
              <a:t>Statistiques des enrôlements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855C3B0-9CD8-4AB0-867E-7E733A6D0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2023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xmlns="" id="{F483E227-F148-4213-8D45-1CC790C90DBF}"/>
              </a:ext>
            </a:extLst>
          </p:cNvPr>
          <p:cNvSpPr txBox="1">
            <a:spLocks/>
          </p:cNvSpPr>
          <p:nvPr/>
        </p:nvSpPr>
        <p:spPr>
          <a:xfrm>
            <a:off x="200925" y="2266165"/>
            <a:ext cx="5442060" cy="15526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xmlns="" id="{6713CBC0-E0FB-4A49-A4D5-9C11BE0A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2622-852A-49C3-8C07-9BFA06B2C0A4}" type="slidenum">
              <a:rPr lang="en-US" smtClean="0"/>
              <a:t>4</a:t>
            </a:fld>
            <a:endParaRPr lang="en-US"/>
          </a:p>
        </p:txBody>
      </p:sp>
      <p:sp>
        <p:nvSpPr>
          <p:cNvPr id="14" name="Rectangle: Rounded Corners 18">
            <a:extLst>
              <a:ext uri="{FF2B5EF4-FFF2-40B4-BE49-F238E27FC236}">
                <a16:creationId xmlns:a16="http://schemas.microsoft.com/office/drawing/2014/main" xmlns="" id="{FA65D5B6-F692-44D9-A00E-9CF18A09B120}"/>
              </a:ext>
            </a:extLst>
          </p:cNvPr>
          <p:cNvSpPr/>
          <p:nvPr/>
        </p:nvSpPr>
        <p:spPr>
          <a:xfrm>
            <a:off x="137413" y="2820534"/>
            <a:ext cx="3799575" cy="453393"/>
          </a:xfrm>
          <a:prstGeom prst="roundRect">
            <a:avLst>
              <a:gd name="adj" fmla="val 10000"/>
            </a:avLst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r>
              <a:rPr lang="fr-FR" sz="2000" b="1" dirty="0">
                <a:solidFill>
                  <a:schemeClr val="tx1"/>
                </a:solidFill>
              </a:rPr>
              <a:t>Cartes délivrée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24">
            <a:extLst>
              <a:ext uri="{FF2B5EF4-FFF2-40B4-BE49-F238E27FC236}">
                <a16:creationId xmlns:a16="http://schemas.microsoft.com/office/drawing/2014/main" xmlns="" id="{BEF0AEE1-B703-4070-80F6-4734C918DEBA}"/>
              </a:ext>
            </a:extLst>
          </p:cNvPr>
          <p:cNvSpPr/>
          <p:nvPr/>
        </p:nvSpPr>
        <p:spPr>
          <a:xfrm>
            <a:off x="4015133" y="2841602"/>
            <a:ext cx="1705997" cy="453394"/>
          </a:xfrm>
          <a:prstGeom prst="roundRect">
            <a:avLst>
              <a:gd name="adj" fmla="val 10000"/>
            </a:avLst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8 460</a:t>
            </a:r>
          </a:p>
        </p:txBody>
      </p:sp>
      <p:sp>
        <p:nvSpPr>
          <p:cNvPr id="16" name="Rectangle: Rounded Corners 25">
            <a:extLst>
              <a:ext uri="{FF2B5EF4-FFF2-40B4-BE49-F238E27FC236}">
                <a16:creationId xmlns:a16="http://schemas.microsoft.com/office/drawing/2014/main" xmlns="" id="{62373EC4-66F3-4B6D-9779-8D2C2E1EF8B0}"/>
              </a:ext>
            </a:extLst>
          </p:cNvPr>
          <p:cNvSpPr/>
          <p:nvPr/>
        </p:nvSpPr>
        <p:spPr>
          <a:xfrm>
            <a:off x="4031175" y="3355673"/>
            <a:ext cx="1554562" cy="453393"/>
          </a:xfrm>
          <a:prstGeom prst="roundRect">
            <a:avLst>
              <a:gd name="adj" fmla="val 10000"/>
            </a:avLst>
          </a:prstGeom>
          <a:solidFill>
            <a:schemeClr val="bg1">
              <a:lumMod val="85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171 227</a:t>
            </a:r>
          </a:p>
        </p:txBody>
      </p:sp>
      <p:sp>
        <p:nvSpPr>
          <p:cNvPr id="17" name="Rectangle: Rounded Corners 26">
            <a:extLst>
              <a:ext uri="{FF2B5EF4-FFF2-40B4-BE49-F238E27FC236}">
                <a16:creationId xmlns:a16="http://schemas.microsoft.com/office/drawing/2014/main" xmlns="" id="{B18DB74D-A50E-4CC5-9664-7DCB7349D69C}"/>
              </a:ext>
            </a:extLst>
          </p:cNvPr>
          <p:cNvSpPr/>
          <p:nvPr/>
        </p:nvSpPr>
        <p:spPr>
          <a:xfrm>
            <a:off x="137413" y="3348636"/>
            <a:ext cx="3799575" cy="458868"/>
          </a:xfrm>
          <a:prstGeom prst="roundRect">
            <a:avLst>
              <a:gd name="adj" fmla="val 10000"/>
            </a:avLst>
          </a:prstGeom>
          <a:solidFill>
            <a:schemeClr val="bg1">
              <a:lumMod val="85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r>
              <a:rPr lang="fr-FR" sz="2000" b="1" dirty="0">
                <a:solidFill>
                  <a:schemeClr val="tx1"/>
                </a:solidFill>
              </a:rPr>
              <a:t>Cartes en Attente  d’Impression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23" name="TextBox 11">
            <a:extLst>
              <a:ext uri="{FF2B5EF4-FFF2-40B4-BE49-F238E27FC236}">
                <a16:creationId xmlns:a16="http://schemas.microsoft.com/office/drawing/2014/main" xmlns="" id="{B6A51B63-4DD3-42FB-ABC6-8EF4A62807A3}"/>
              </a:ext>
            </a:extLst>
          </p:cNvPr>
          <p:cNvSpPr txBox="1"/>
          <p:nvPr/>
        </p:nvSpPr>
        <p:spPr>
          <a:xfrm>
            <a:off x="137413" y="4494803"/>
            <a:ext cx="32509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29 921 enrôlements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28 697 Pré-enrôlements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DBEDFF6F-9C44-42E9-92C7-C1013C4F61B3}"/>
              </a:ext>
            </a:extLst>
          </p:cNvPr>
          <p:cNvSpPr txBox="1">
            <a:spLocks/>
          </p:cNvSpPr>
          <p:nvPr/>
        </p:nvSpPr>
        <p:spPr>
          <a:xfrm>
            <a:off x="137413" y="3980794"/>
            <a:ext cx="1854250" cy="42279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: Rounded Corners 18">
            <a:extLst>
              <a:ext uri="{FF2B5EF4-FFF2-40B4-BE49-F238E27FC236}">
                <a16:creationId xmlns:a16="http://schemas.microsoft.com/office/drawing/2014/main" xmlns="" id="{FA65D5B6-F692-44D9-A00E-9CF18A09B120}"/>
              </a:ext>
            </a:extLst>
          </p:cNvPr>
          <p:cNvSpPr/>
          <p:nvPr/>
        </p:nvSpPr>
        <p:spPr>
          <a:xfrm>
            <a:off x="137413" y="1743337"/>
            <a:ext cx="2907853" cy="453393"/>
          </a:xfrm>
          <a:prstGeom prst="roundRect">
            <a:avLst>
              <a:gd name="adj" fmla="val 10000"/>
            </a:avLst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r>
              <a:rPr lang="fr-FR" sz="2000" b="1" dirty="0">
                <a:solidFill>
                  <a:schemeClr val="tx1"/>
                </a:solidFill>
              </a:rPr>
              <a:t>1-Semaine du 31/07/23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29" name="Rectangle: Rounded Corners 24">
            <a:extLst>
              <a:ext uri="{FF2B5EF4-FFF2-40B4-BE49-F238E27FC236}">
                <a16:creationId xmlns:a16="http://schemas.microsoft.com/office/drawing/2014/main" xmlns="" id="{BEF0AEE1-B703-4070-80F6-4734C918DEBA}"/>
              </a:ext>
            </a:extLst>
          </p:cNvPr>
          <p:cNvSpPr/>
          <p:nvPr/>
        </p:nvSpPr>
        <p:spPr>
          <a:xfrm>
            <a:off x="3195332" y="1743336"/>
            <a:ext cx="2511165" cy="453394"/>
          </a:xfrm>
          <a:prstGeom prst="roundRect">
            <a:avLst>
              <a:gd name="adj" fmla="val 10000"/>
            </a:avLst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P:447 134; E: 152 202</a:t>
            </a:r>
          </a:p>
        </p:txBody>
      </p:sp>
      <p:sp>
        <p:nvSpPr>
          <p:cNvPr id="30" name="Rectangle: Rounded Corners 25">
            <a:extLst>
              <a:ext uri="{FF2B5EF4-FFF2-40B4-BE49-F238E27FC236}">
                <a16:creationId xmlns:a16="http://schemas.microsoft.com/office/drawing/2014/main" xmlns="" id="{62373EC4-66F3-4B6D-9779-8D2C2E1EF8B0}"/>
              </a:ext>
            </a:extLst>
          </p:cNvPr>
          <p:cNvSpPr/>
          <p:nvPr/>
        </p:nvSpPr>
        <p:spPr>
          <a:xfrm>
            <a:off x="3195332" y="2276913"/>
            <a:ext cx="2511165" cy="453393"/>
          </a:xfrm>
          <a:prstGeom prst="roundRect">
            <a:avLst>
              <a:gd name="adj" fmla="val 10000"/>
            </a:avLst>
          </a:prstGeom>
          <a:solidFill>
            <a:schemeClr val="bg1">
              <a:lumMod val="85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000" b="1" dirty="0">
              <a:solidFill>
                <a:schemeClr val="tx1"/>
              </a:solidFill>
            </a:endParaRP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P:475 831; E: 182 123</a:t>
            </a:r>
          </a:p>
          <a:p>
            <a:pPr algn="ctr"/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31" name="Rectangle: Rounded Corners 26">
            <a:extLst>
              <a:ext uri="{FF2B5EF4-FFF2-40B4-BE49-F238E27FC236}">
                <a16:creationId xmlns:a16="http://schemas.microsoft.com/office/drawing/2014/main" xmlns="" id="{B18DB74D-A50E-4CC5-9664-7DCB7349D69C}"/>
              </a:ext>
            </a:extLst>
          </p:cNvPr>
          <p:cNvSpPr/>
          <p:nvPr/>
        </p:nvSpPr>
        <p:spPr>
          <a:xfrm>
            <a:off x="137413" y="2271438"/>
            <a:ext cx="2907853" cy="458868"/>
          </a:xfrm>
          <a:prstGeom prst="roundRect">
            <a:avLst>
              <a:gd name="adj" fmla="val 10000"/>
            </a:avLst>
          </a:prstGeom>
          <a:solidFill>
            <a:schemeClr val="bg1">
              <a:lumMod val="85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r>
              <a:rPr lang="fr-FR" sz="2000" b="1" dirty="0">
                <a:solidFill>
                  <a:schemeClr val="tx1"/>
                </a:solidFill>
              </a:rPr>
              <a:t>2-Semaine du 24/07/23</a:t>
            </a:r>
            <a:endParaRPr lang="en-US" sz="2000" b="1" dirty="0">
              <a:solidFill>
                <a:schemeClr val="tx1"/>
              </a:solidFill>
            </a:endParaRP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xmlns="" id="{651D9158-55FD-44A7-87EB-D16017FD66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54094187"/>
              </p:ext>
            </p:extLst>
          </p:nvPr>
        </p:nvGraphicFramePr>
        <p:xfrm>
          <a:off x="2106753" y="1611161"/>
          <a:ext cx="9247047" cy="39502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xmlns="" id="{DD5F90BB-9B18-4313-B4B1-6FDD9D325E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310111"/>
              </p:ext>
            </p:extLst>
          </p:nvPr>
        </p:nvGraphicFramePr>
        <p:xfrm>
          <a:off x="1342709" y="2710034"/>
          <a:ext cx="9802093" cy="39024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97578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Enrôlement CSU : Statistiques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2023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LANCEMENT DE LA PHASE I DE LA COUVERTURE SANTE UNIVERSELLE PHASE I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2622-852A-49C3-8C07-9BFA06B2C0A4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D4C567E6-C5A7-4F31-8D4F-B48662DFB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67" y="1803400"/>
            <a:ext cx="8974665" cy="3310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087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Vente des CS : Statistiques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2023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LANCEMENT DE LA PHASE I DE LA COUVERTURE SANTE UNIVERSELLE PHASE I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2622-852A-49C3-8C07-9BFA06B2C0A4}" type="slidenum">
              <a:rPr lang="en-US" smtClean="0"/>
              <a:t>6</a:t>
            </a:fld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00925" y="1281345"/>
            <a:ext cx="11356664" cy="476203"/>
          </a:xfrm>
        </p:spPr>
        <p:txBody>
          <a:bodyPr/>
          <a:lstStyle/>
          <a:p>
            <a:pPr marL="0" indent="0">
              <a:buNone/>
            </a:pPr>
            <a:r>
              <a:rPr lang="fr-CM" dirty="0"/>
              <a:t>Disparités Régionales</a:t>
            </a:r>
            <a:endParaRPr lang="fr-FR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xmlns="" id="{CF807CE4-26A6-45C9-9662-EE4B52C671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23132687"/>
              </p:ext>
            </p:extLst>
          </p:nvPr>
        </p:nvGraphicFramePr>
        <p:xfrm>
          <a:off x="897467" y="1757548"/>
          <a:ext cx="10084664" cy="42636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94748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Enrôlement CSU : Statistiques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2023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LANCEMENT DE LA PHASE I DE LA COUVERTURE SANTE UNIVERSELLE PHASE I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2622-852A-49C3-8C07-9BFA06B2C0A4}" type="slidenum">
              <a:rPr lang="en-US" smtClean="0"/>
              <a:t>7</a:t>
            </a:fld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19505"/>
            <a:ext cx="11356664" cy="476203"/>
          </a:xfrm>
        </p:spPr>
        <p:txBody>
          <a:bodyPr/>
          <a:lstStyle/>
          <a:p>
            <a:pPr marL="0" indent="0">
              <a:buNone/>
            </a:pPr>
            <a:r>
              <a:rPr lang="fr-CM" dirty="0"/>
              <a:t>Disparités Régionales</a:t>
            </a:r>
            <a:endParaRPr lang="fr-FR" dirty="0"/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xmlns="" id="{A2FFC6BD-6A73-4745-95E6-8FB49EF087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7344029"/>
              </p:ext>
            </p:extLst>
          </p:nvPr>
        </p:nvGraphicFramePr>
        <p:xfrm>
          <a:off x="74645" y="1474238"/>
          <a:ext cx="11467322" cy="47360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04608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118277"/>
            <a:ext cx="9694984" cy="642827"/>
          </a:xfrm>
        </p:spPr>
        <p:txBody>
          <a:bodyPr/>
          <a:lstStyle/>
          <a:p>
            <a:r>
              <a:rPr lang="fr-FR" dirty="0"/>
              <a:t>Enrôlement CSU : Statistiques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2023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LANCEMENT DE LA PHASE I DE LA COUVERTURE SANTE UNIVERSELLE PHASE I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2622-852A-49C3-8C07-9BFA06B2C0A4}" type="slidenum">
              <a:rPr lang="en-US" smtClean="0"/>
              <a:t>8</a:t>
            </a:fld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2865" y="756604"/>
            <a:ext cx="11356664" cy="476203"/>
          </a:xfrm>
        </p:spPr>
        <p:txBody>
          <a:bodyPr/>
          <a:lstStyle/>
          <a:p>
            <a:pPr marL="0" indent="0">
              <a:buNone/>
            </a:pPr>
            <a:r>
              <a:rPr lang="fr-CM" dirty="0"/>
              <a:t>Disparités Régionales enrôlements par paniers de service</a:t>
            </a:r>
            <a:endParaRPr lang="fr-F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8965441E-7F71-41FC-AD3E-F849208CB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12" y="1232807"/>
            <a:ext cx="5191850" cy="49251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7590A1F0-73E7-4933-BDC8-3AE6925A7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04281"/>
            <a:ext cx="5210902" cy="475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156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118277"/>
            <a:ext cx="9694984" cy="642827"/>
          </a:xfrm>
        </p:spPr>
        <p:txBody>
          <a:bodyPr/>
          <a:lstStyle/>
          <a:p>
            <a:r>
              <a:rPr lang="fr-FR" dirty="0"/>
              <a:t>Enrôlement CSU : Statistiques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2023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LANCEMENT DE LA PHASE I DE LA COUVERTURE SANTE UNIVERSELLE PHASE I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2622-852A-49C3-8C07-9BFA06B2C0A4}" type="slidenum">
              <a:rPr lang="en-US" smtClean="0"/>
              <a:t>9</a:t>
            </a:fld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2865" y="756604"/>
            <a:ext cx="11356664" cy="476203"/>
          </a:xfrm>
        </p:spPr>
        <p:txBody>
          <a:bodyPr/>
          <a:lstStyle/>
          <a:p>
            <a:pPr marL="0" indent="0">
              <a:buNone/>
            </a:pPr>
            <a:r>
              <a:rPr lang="fr-CM" dirty="0"/>
              <a:t>Disparités Régionales enrôlements par paniers de service: FEC</a:t>
            </a:r>
            <a:endParaRPr lang="fr-FR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3A8C3D5E-8147-4A34-9756-E8206EA39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046" y="1232807"/>
            <a:ext cx="5144218" cy="47822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607B74BC-7F34-459A-B32B-D163CE813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66122"/>
            <a:ext cx="5496692" cy="484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227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118277"/>
            <a:ext cx="9694984" cy="642827"/>
          </a:xfrm>
        </p:spPr>
        <p:txBody>
          <a:bodyPr/>
          <a:lstStyle/>
          <a:p>
            <a:r>
              <a:rPr lang="fr-FR" dirty="0"/>
              <a:t>Enrôlement CSU : Statistiques(6/7)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2023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LANCEMENT DE LA PHASE I DE LA COUVERTURE SANTE UNIVERSELLE PHASE I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2622-852A-49C3-8C07-9BFA06B2C0A4}" type="slidenum">
              <a:rPr lang="en-US" smtClean="0"/>
              <a:t>10</a:t>
            </a:fld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2865" y="756604"/>
            <a:ext cx="11356664" cy="476203"/>
          </a:xfrm>
        </p:spPr>
        <p:txBody>
          <a:bodyPr/>
          <a:lstStyle/>
          <a:p>
            <a:pPr marL="0" indent="0">
              <a:buNone/>
            </a:pPr>
            <a:r>
              <a:rPr lang="fr-CM" dirty="0"/>
              <a:t>enrôlements par paniers de service: TB ET ONCHO</a:t>
            </a:r>
            <a:endParaRPr lang="fr-FR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14615C09-1EF4-436D-B54D-6EE192373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616" y="1366774"/>
            <a:ext cx="3924848" cy="451548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19C61D41-25AA-4B2D-95FF-E54D79804B96}"/>
              </a:ext>
            </a:extLst>
          </p:cNvPr>
          <p:cNvSpPr txBox="1"/>
          <p:nvPr/>
        </p:nvSpPr>
        <p:spPr>
          <a:xfrm>
            <a:off x="5094514" y="5864407"/>
            <a:ext cx="4488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Détermination des cibles en cours </a:t>
            </a:r>
          </a:p>
        </p:txBody>
      </p:sp>
    </p:spTree>
    <p:extLst>
      <p:ext uri="{BB962C8B-B14F-4D97-AF65-F5344CB8AC3E}">
        <p14:creationId xmlns:p14="http://schemas.microsoft.com/office/powerpoint/2010/main" val="2195389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118277"/>
            <a:ext cx="9694984" cy="642827"/>
          </a:xfrm>
        </p:spPr>
        <p:txBody>
          <a:bodyPr/>
          <a:lstStyle/>
          <a:p>
            <a:r>
              <a:rPr lang="fr-FR" dirty="0"/>
              <a:t>Enrôlement CSU : Statistiques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2023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LANCEMENT DE LA PHASE I DE LA COUVERTURE SANTE UNIVERSELLE PHASE I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2622-852A-49C3-8C07-9BFA06B2C0A4}" type="slidenum">
              <a:rPr lang="en-US" smtClean="0"/>
              <a:t>11</a:t>
            </a:fld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2865" y="756604"/>
            <a:ext cx="11356664" cy="476203"/>
          </a:xfrm>
        </p:spPr>
        <p:txBody>
          <a:bodyPr/>
          <a:lstStyle/>
          <a:p>
            <a:pPr marL="0" indent="0">
              <a:buNone/>
            </a:pPr>
            <a:r>
              <a:rPr lang="fr-CM" dirty="0"/>
              <a:t>Disparités Régionales enrôlements par paniers de service: Performance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B2C98248-C723-4CA9-9987-E7E67B39D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621" y="1547811"/>
            <a:ext cx="9793067" cy="455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897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xmlns="" id="{6B78BAA2-7F6A-4A54-8BC1-2ED5DBF72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8326" y="1816768"/>
            <a:ext cx="7291137" cy="1732548"/>
          </a:xfrm>
        </p:spPr>
        <p:txBody>
          <a:bodyPr/>
          <a:lstStyle/>
          <a:p>
            <a:r>
              <a:rPr lang="fr-FR" dirty="0"/>
              <a:t>MERCI 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17446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 PPT CSU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 PPT CSU" id="{88162F00-5126-45B9-8CBE-F31F595B1026}" vid="{E890441A-1900-41BC-B945-82C4354AF0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50088</TotalTime>
  <Words>478</Words>
  <Application>Microsoft Office PowerPoint</Application>
  <PresentationFormat>Grand écran</PresentationFormat>
  <Paragraphs>87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8" baseType="lpstr">
      <vt:lpstr>Arial</vt:lpstr>
      <vt:lpstr>Arial Black</vt:lpstr>
      <vt:lpstr>Calibri</vt:lpstr>
      <vt:lpstr>Calibri Light</vt:lpstr>
      <vt:lpstr>Times New Roman</vt:lpstr>
      <vt:lpstr>THEME PPT CSU</vt:lpstr>
      <vt:lpstr>POINT SUR L’EVOLUTION DU DEPLOIEMENT DE LA CSU PHASE I</vt:lpstr>
      <vt:lpstr>PLAN DE PRESENTATION</vt:lpstr>
      <vt:lpstr>Objectifs (rappel)</vt:lpstr>
      <vt:lpstr>Enrôlement CSU : Statistiques</vt:lpstr>
      <vt:lpstr>Enrôlement CSU : Statistiques</vt:lpstr>
      <vt:lpstr>Vente des CS : Statistiques</vt:lpstr>
      <vt:lpstr>Enrôlement CSU : Statistiques</vt:lpstr>
      <vt:lpstr>Enrôlement CSU : Statistiques</vt:lpstr>
      <vt:lpstr>Enrôlement CSU : Statistiques</vt:lpstr>
      <vt:lpstr>Enrôlement CSU : Statistiques(6/7)</vt:lpstr>
      <vt:lpstr>Enrôlement CSU : Statistiques</vt:lpstr>
      <vt:lpstr>MERCI 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EVOLUTION DU DEPLOIEMENT DE LA CSU PHASE I</dc:title>
  <dc:creator>Francoise</dc:creator>
  <cp:lastModifiedBy>Compte Microsoft</cp:lastModifiedBy>
  <cp:revision>136</cp:revision>
  <dcterms:modified xsi:type="dcterms:W3CDTF">2023-08-07T19:34:26Z</dcterms:modified>
</cp:coreProperties>
</file>